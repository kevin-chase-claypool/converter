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8" r:id="rId7"/>
    <p:sldId id="267" r:id="rId8"/>
    <p:sldId id="266" r:id="rId9"/>
    <p:sldId id="265" r:id="rId10"/>
    <p:sldId id="264" r:id="rId11"/>
    <p:sldId id="263" r:id="rId12"/>
    <p:sldId id="261" r:id="rId13"/>
    <p:sldId id="26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User-provided toolhead CAD render.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project architecture, test plan, and user-provided CAD.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Internal system architecture and interface documents.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docs/p100-data-movement.html rendered as a static image.</a:t>
            </a:r>
          </a:p>
          <a:p>
            <a:r>
              <a:t>- firmware/grblhal/HOMING_AND_MAGNETIC_CALIBRATION.md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firmware/pen_pressure/CONTROL_STRATEGY.md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docs/testing/TEST_PLAN.md</a:t>
            </a:r>
          </a:p>
          <a:p>
            <a:r>
              <a:t>- No external assets or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slide" Target="slide10.xml"/><Relationship Id="rId3" Type="http://schemas.openxmlformats.org/officeDocument/2006/relationships/image" Target="../media/image2.png"/><Relationship Id="rId7" Type="http://schemas.openxmlformats.org/officeDocument/2006/relationships/slide" Target="slide9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.xml"/><Relationship Id="rId5" Type="http://schemas.openxmlformats.org/officeDocument/2006/relationships/slide" Target="slide7.xml"/><Relationship Id="rId10" Type="http://schemas.openxmlformats.org/officeDocument/2006/relationships/slide" Target="slide5.xml"/><Relationship Id="rId4" Type="http://schemas.openxmlformats.org/officeDocument/2006/relationships/slide" Target="slide6.xml"/><Relationship Id="rId9" Type="http://schemas.openxmlformats.org/officeDocument/2006/relationships/slide" Target="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A7D2EF2-BFA3-4766-B942-23E570E48309}"/>
              </a:ext>
            </a:extLst>
          </p:cNvPr>
          <p:cNvSpPr>
            <a:spLocks noGrp="1"/>
          </p:cNvSpPr>
          <p:nvPr/>
        </p:nvSpPr>
        <p:spPr>
          <a:xfrm>
            <a:off x="400050" y="4191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 UPDATE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209B30-5687-4D31-B45B-B18289FD1874}"/>
              </a:ext>
            </a:extLst>
          </p:cNvPr>
          <p:cNvSpPr>
            <a:spLocks noGrp="1"/>
          </p:cNvSpPr>
          <p:nvPr/>
        </p:nvSpPr>
        <p:spPr>
          <a:xfrm>
            <a:off x="400050" y="1104900"/>
            <a:ext cx="53340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4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XY </a:t>
            </a:r>
            <a:r>
              <a:rPr sz="4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Theta Pen Plotter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7D776E8-8ED9-48FA-BCA2-259250FFD263}"/>
              </a:ext>
            </a:extLst>
          </p:cNvPr>
          <p:cNvSpPr>
            <a:spLocks noGrp="1"/>
          </p:cNvSpPr>
          <p:nvPr/>
        </p:nvSpPr>
        <p:spPr>
          <a:xfrm>
            <a:off x="400050" y="2438400"/>
            <a:ext cx="4953000" cy="1104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Path to </a:t>
            </a:r>
            <a:r>
              <a:rPr lang="en-US" sz="2025" b="0" dirty="0" err="1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commisioning</a:t>
            </a:r>
            <a:endParaRPr sz="20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52D98DF-1233-450F-A29D-86072603A44D}"/>
              </a:ext>
            </a:extLst>
          </p:cNvPr>
          <p:cNvSpPr>
            <a:spLocks noGrp="1"/>
          </p:cNvSpPr>
          <p:nvPr/>
        </p:nvSpPr>
        <p:spPr>
          <a:xfrm>
            <a:off x="400050" y="3905250"/>
            <a:ext cx="4572000" cy="28575"/>
          </a:xfrm>
          <a:prstGeom prst="rect">
            <a:avLst/>
          </a:prstGeom>
          <a:solidFill>
            <a:srgbClr val="3D8DFF"/>
          </a:solidFill>
          <a:ln w="0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70773F-8C93-41F1-9E9B-6EE3F437BD4A}"/>
              </a:ext>
            </a:extLst>
          </p:cNvPr>
          <p:cNvSpPr>
            <a:spLocks noGrp="1"/>
          </p:cNvSpPr>
          <p:nvPr/>
        </p:nvSpPr>
        <p:spPr>
          <a:xfrm>
            <a:off x="400050" y="4171950"/>
            <a:ext cx="476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Course progress update  •  September 2026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5FB2DD-B9EE-4E50-ACD4-DD43F4B76831}"/>
              </a:ext>
            </a:extLst>
          </p:cNvPr>
          <p:cNvSpPr>
            <a:spLocks noGrp="1"/>
          </p:cNvSpPr>
          <p:nvPr/>
        </p:nvSpPr>
        <p:spPr>
          <a:xfrm>
            <a:off x="6191250" y="5829300"/>
            <a:ext cx="5238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 toolhead combines an N20 lead-screw actuator, spring compliance, load cell, and guided pen carriage.</a:t>
            </a:r>
          </a:p>
        </p:txBody>
      </p:sp>
      <p:pic>
        <p:nvPicPr>
          <p:cNvPr id="9" name="Picture 12">
            <a:extLst>
              <a:ext uri="{FF2B5EF4-FFF2-40B4-BE49-F238E27FC236}">
                <a16:creationId xmlns:a16="http://schemas.microsoft.com/office/drawing/2014/main" id="{0052B775-B4A3-8E7A-30E8-112F7D9C531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2583" y="552450"/>
            <a:ext cx="3856084" cy="533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6599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4A5F06BD-8CC6-47BD-A58B-0692AC957AAE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SUMMER PROGRESS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91DDECE-ED75-4D68-B915-72CBDC91319D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Mechanical portion built, wiring in progress</a:t>
            </a:r>
            <a:endParaRPr sz="27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46F1AAD-6BDC-49E5-A31E-92FC6FA179A0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2B871E-710A-4CFB-90CD-A6F6843CC7D2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06B145-D384-4C71-88C4-25E96383962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FBEA32-CAF5-47CF-B578-4F937F68C114}"/>
              </a:ext>
            </a:extLst>
          </p:cNvPr>
          <p:cNvSpPr>
            <a:spLocks noGrp="1"/>
          </p:cNvSpPr>
          <p:nvPr/>
        </p:nvSpPr>
        <p:spPr>
          <a:xfrm>
            <a:off x="4000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DEB43A4-49B2-4CFE-A8D3-0660DDB6421D}"/>
              </a:ext>
            </a:extLst>
          </p:cNvPr>
          <p:cNvSpPr>
            <a:spLocks noGrp="1"/>
          </p:cNvSpPr>
          <p:nvPr/>
        </p:nvSpPr>
        <p:spPr>
          <a:xfrm>
            <a:off x="6286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MECHANICAL TOOLHEAD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9CB59F-E0E2-4955-A9F6-BA309CE768B0}"/>
              </a:ext>
            </a:extLst>
          </p:cNvPr>
          <p:cNvSpPr>
            <a:spLocks noGrp="1"/>
          </p:cNvSpPr>
          <p:nvPr/>
        </p:nvSpPr>
        <p:spPr>
          <a:xfrm>
            <a:off x="6286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Built and iterated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DF31B40-7DDD-4F76-8993-A7FC7C64D503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Guided pen carriage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lead-screw actuator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pring compliance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L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oad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cell force path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rinted mounting concepts.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58BD53D-1252-45CC-B3BC-A547ACBF2210}"/>
              </a:ext>
            </a:extLst>
          </p:cNvPr>
          <p:cNvSpPr>
            <a:spLocks noGrp="1"/>
          </p:cNvSpPr>
          <p:nvPr/>
        </p:nvSpPr>
        <p:spPr>
          <a:xfrm>
            <a:off x="4133850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6A0FED7-933E-4FC8-8769-A68A4B75DF46}"/>
              </a:ext>
            </a:extLst>
          </p:cNvPr>
          <p:cNvSpPr>
            <a:spLocks noGrp="1"/>
          </p:cNvSpPr>
          <p:nvPr/>
        </p:nvSpPr>
        <p:spPr>
          <a:xfrm>
            <a:off x="43624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CONTROL SPLIT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F232C66-4EA1-4BAF-AD75-5FFC5C2E698D}"/>
              </a:ext>
            </a:extLst>
          </p:cNvPr>
          <p:cNvSpPr>
            <a:spLocks noGrp="1"/>
          </p:cNvSpPr>
          <p:nvPr/>
        </p:nvSpPr>
        <p:spPr>
          <a:xfrm>
            <a:off x="43624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Ownership definitions</a:t>
            </a:r>
            <a:endParaRPr sz="20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C058906-5EC3-40B6-9147-95130B863FF4}"/>
              </a:ext>
            </a:extLst>
          </p:cNvPr>
          <p:cNvSpPr>
            <a:spLocks noGrp="1"/>
          </p:cNvSpPr>
          <p:nvPr/>
        </p:nvSpPr>
        <p:spPr>
          <a:xfrm>
            <a:off x="43624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owns X/Y/A motion </a:t>
            </a: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orchestration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. 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 Micro owns N20 motion, force sensing and toolhead safety.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86D09-958A-4C34-9887-4AE3AFA0D884}"/>
              </a:ext>
            </a:extLst>
          </p:cNvPr>
          <p:cNvSpPr>
            <a:spLocks noGrp="1"/>
          </p:cNvSpPr>
          <p:nvPr/>
        </p:nvSpPr>
        <p:spPr>
          <a:xfrm>
            <a:off x="7858125" y="1809750"/>
            <a:ext cx="3333750" cy="3143250"/>
          </a:xfrm>
          <a:prstGeom prst="roundRect">
            <a:avLst>
              <a:gd name="adj" fmla="val 2424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AA3BF94-CF09-4096-BF4A-D1253318DA33}"/>
              </a:ext>
            </a:extLst>
          </p:cNvPr>
          <p:cNvSpPr>
            <a:spLocks noGrp="1"/>
          </p:cNvSpPr>
          <p:nvPr/>
        </p:nvSpPr>
        <p:spPr>
          <a:xfrm>
            <a:off x="8096250" y="20955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COMMISSIONING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971C80-8210-4EBA-8D2A-D5071436CE56}"/>
              </a:ext>
            </a:extLst>
          </p:cNvPr>
          <p:cNvSpPr>
            <a:spLocks noGrp="1"/>
          </p:cNvSpPr>
          <p:nvPr/>
        </p:nvSpPr>
        <p:spPr>
          <a:xfrm>
            <a:off x="8096250" y="2552700"/>
            <a:ext cx="2857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0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Planne</a:t>
            </a:r>
            <a:r>
              <a:rPr lang="en-US" sz="20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</a:t>
            </a:r>
            <a:endParaRPr sz="20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100F6AA-3FA8-4ED0-9A38-0B2378E343B6}"/>
              </a:ext>
            </a:extLst>
          </p:cNvPr>
          <p:cNvSpPr>
            <a:spLocks noGrp="1"/>
          </p:cNvSpPr>
          <p:nvPr/>
        </p:nvSpPr>
        <p:spPr>
          <a:xfrm>
            <a:off x="8096250" y="3333750"/>
            <a:ext cx="2857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00" lnSpcReduction="20000"/>
          </a:bodyPr>
          <a:lstStyle/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Test definitions for:</a:t>
            </a:r>
          </a:p>
          <a:p>
            <a:pPr algn="l"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orce calibration</a:t>
            </a:r>
            <a:endParaRPr lang="en-US" sz="1425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L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ift</a:t>
            </a: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-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home repeatability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M5 clearance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</a:t>
            </a:r>
            <a:r>
              <a:rPr sz="142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nterchangeable-tool checks</a:t>
            </a:r>
            <a:endParaRPr lang="en-US"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  <a:p>
            <a:pPr marL="285750" indent="-285750" algn="l">
              <a:buFont typeface="Arial" panose="020B0604020202020204" pitchFamily="34" charset="0"/>
              <a:buChar char="•"/>
              <a:defRPr sz="142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425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Finish motor wiring</a:t>
            </a:r>
            <a:endParaRPr sz="1425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D47CBC-A03B-4F67-9CD5-A565309EF5D6}"/>
              </a:ext>
            </a:extLst>
          </p:cNvPr>
          <p:cNvSpPr>
            <a:spLocks noGrp="1"/>
          </p:cNvSpPr>
          <p:nvPr/>
        </p:nvSpPr>
        <p:spPr>
          <a:xfrm>
            <a:off x="400050" y="5372100"/>
            <a:ext cx="103822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Progress </a:t>
            </a:r>
            <a:r>
              <a:rPr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is being documented as measured</a:t>
            </a:r>
            <a:r>
              <a:rPr lang="en-US" sz="18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tests</a:t>
            </a:r>
            <a:endParaRPr sz="18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55585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6F0626F8-8965-48B5-9D86-0101BF110120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HIGH-LEVEL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11B-9769-49D6-9CD1-D9B1E38689B4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Printing separates coordinated motion from local force control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2C0756-4365-4B6C-8473-70A1EA522BF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25569D-CA4A-4AE7-A04F-0542C3B07E8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99396C-5F6C-40B1-8BEB-0D7A25932070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A1B4A7E-ACD7-4B4B-8402-B1AA1C137F52}"/>
              </a:ext>
            </a:extLst>
          </p:cNvPr>
          <p:cNvSpPr>
            <a:spLocks noGrp="1"/>
          </p:cNvSpPr>
          <p:nvPr/>
        </p:nvSpPr>
        <p:spPr>
          <a:xfrm>
            <a:off x="4000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D5437B8-B8D6-4983-9B9E-AB696ABFDC02}"/>
              </a:ext>
            </a:extLst>
          </p:cNvPr>
          <p:cNvSpPr>
            <a:spLocks noGrp="1"/>
          </p:cNvSpPr>
          <p:nvPr/>
        </p:nvSpPr>
        <p:spPr>
          <a:xfrm>
            <a:off x="5715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Host PC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821233-6A88-472F-B2AE-BDEBAFDE1D8A}"/>
              </a:ext>
            </a:extLst>
          </p:cNvPr>
          <p:cNvSpPr>
            <a:spLocks noGrp="1"/>
          </p:cNvSpPr>
          <p:nvPr/>
        </p:nvSpPr>
        <p:spPr>
          <a:xfrm>
            <a:off x="5715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SVG → G-code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ioSender streams commands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DC343F9-CB34-4C4D-B5DE-9B84F0CB8A36}"/>
              </a:ext>
            </a:extLst>
          </p:cNvPr>
          <p:cNvSpPr>
            <a:spLocks noGrp="1"/>
          </p:cNvSpPr>
          <p:nvPr/>
        </p:nvSpPr>
        <p:spPr>
          <a:xfrm>
            <a:off x="3333750" y="2476500"/>
            <a:ext cx="304800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0A1C01-5A3A-4DA2-B229-D5C0D8D351D0}"/>
              </a:ext>
            </a:extLst>
          </p:cNvPr>
          <p:cNvSpPr>
            <a:spLocks noGrp="1"/>
          </p:cNvSpPr>
          <p:nvPr/>
        </p:nvSpPr>
        <p:spPr>
          <a:xfrm>
            <a:off x="3505200" y="2724150"/>
            <a:ext cx="2705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/ grblHAL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747168D-9C5E-452B-862F-4336A0207C3D}"/>
              </a:ext>
            </a:extLst>
          </p:cNvPr>
          <p:cNvSpPr>
            <a:spLocks noGrp="1"/>
          </p:cNvSpPr>
          <p:nvPr/>
        </p:nvSpPr>
        <p:spPr>
          <a:xfrm>
            <a:off x="3505200" y="3219450"/>
            <a:ext cx="27051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Plans X/Y/A motion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Homing and P100 registration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50D4362-79BE-4DC4-B207-C7E4ACEE1A94}"/>
              </a:ext>
            </a:extLst>
          </p:cNvPr>
          <p:cNvSpPr>
            <a:spLocks noGrp="1"/>
          </p:cNvSpPr>
          <p:nvPr/>
        </p:nvSpPr>
        <p:spPr>
          <a:xfrm>
            <a:off x="7164777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883649-D0D2-4D45-B3D8-7F2F0C347451}"/>
              </a:ext>
            </a:extLst>
          </p:cNvPr>
          <p:cNvSpPr>
            <a:spLocks noGrp="1"/>
          </p:cNvSpPr>
          <p:nvPr/>
        </p:nvSpPr>
        <p:spPr>
          <a:xfrm>
            <a:off x="7336227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5745" lnSpcReduction="20000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Pro Micro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2C0425-029F-4BE4-8EEC-27C5029797AA}"/>
              </a:ext>
            </a:extLst>
          </p:cNvPr>
          <p:cNvSpPr>
            <a:spLocks noGrp="1"/>
          </p:cNvSpPr>
          <p:nvPr/>
        </p:nvSpPr>
        <p:spPr>
          <a:xfrm>
            <a:off x="7336227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Reads load cell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Controls N20 and safety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A488552-1970-4C79-BCB9-94F2A2724B58}"/>
              </a:ext>
            </a:extLst>
          </p:cNvPr>
          <p:cNvSpPr>
            <a:spLocks noGrp="1"/>
          </p:cNvSpPr>
          <p:nvPr/>
        </p:nvSpPr>
        <p:spPr>
          <a:xfrm>
            <a:off x="10001250" y="2476500"/>
            <a:ext cx="1809750" cy="1619250"/>
          </a:xfrm>
          <a:prstGeom prst="roundRect">
            <a:avLst>
              <a:gd name="adj" fmla="val 4706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6E79CC2-72F4-4519-BF40-356F0833B82C}"/>
              </a:ext>
            </a:extLst>
          </p:cNvPr>
          <p:cNvSpPr>
            <a:spLocks noGrp="1"/>
          </p:cNvSpPr>
          <p:nvPr/>
        </p:nvSpPr>
        <p:spPr>
          <a:xfrm>
            <a:off x="10172700" y="2724150"/>
            <a:ext cx="14668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Pen + paper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E7FE630-5988-405B-9B72-12C8BCB7233E}"/>
              </a:ext>
            </a:extLst>
          </p:cNvPr>
          <p:cNvSpPr>
            <a:spLocks noGrp="1"/>
          </p:cNvSpPr>
          <p:nvPr/>
        </p:nvSpPr>
        <p:spPr>
          <a:xfrm>
            <a:off x="10172700" y="3219450"/>
            <a:ext cx="14668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Writing force</a:t>
            </a:r>
          </a:p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creates the mark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DFD08-C19E-4DD4-B440-0EDCCE5E0062}"/>
              </a:ext>
            </a:extLst>
          </p:cNvPr>
          <p:cNvSpPr>
            <a:spLocks noGrp="1"/>
          </p:cNvSpPr>
          <p:nvPr/>
        </p:nvSpPr>
        <p:spPr>
          <a:xfrm>
            <a:off x="2571750" y="2933700"/>
            <a:ext cx="7429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07C9902-9EF6-4D94-A63E-0354F7020934}"/>
              </a:ext>
            </a:extLst>
          </p:cNvPr>
          <p:cNvSpPr>
            <a:spLocks noGrp="1"/>
          </p:cNvSpPr>
          <p:nvPr/>
        </p:nvSpPr>
        <p:spPr>
          <a:xfrm>
            <a:off x="2245923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G-code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B1625C7-F60D-4DBE-9478-34A2FA926DBF}"/>
              </a:ext>
            </a:extLst>
          </p:cNvPr>
          <p:cNvSpPr>
            <a:spLocks noGrp="1"/>
          </p:cNvSpPr>
          <p:nvPr/>
        </p:nvSpPr>
        <p:spPr>
          <a:xfrm>
            <a:off x="6515100" y="2914650"/>
            <a:ext cx="456481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516AF1-5276-4496-9781-D96179E8828E}"/>
              </a:ext>
            </a:extLst>
          </p:cNvPr>
          <p:cNvSpPr>
            <a:spLocks noGrp="1"/>
          </p:cNvSpPr>
          <p:nvPr/>
        </p:nvSpPr>
        <p:spPr>
          <a:xfrm>
            <a:off x="6438900" y="2667000"/>
            <a:ext cx="5715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M3 / 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79895A4-BAFC-4E3D-9428-DDF97F096842}"/>
              </a:ext>
            </a:extLst>
          </p:cNvPr>
          <p:cNvSpPr>
            <a:spLocks noGrp="1"/>
          </p:cNvSpPr>
          <p:nvPr/>
        </p:nvSpPr>
        <p:spPr>
          <a:xfrm>
            <a:off x="9219481" y="2914650"/>
            <a:ext cx="686519" cy="285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Autofit/>
          </a:bodyPr>
          <a:lstStyle/>
          <a:p>
            <a:pPr algn="l">
              <a:defRPr sz="15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000" b="1" dirty="0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DD025EA-6AE9-4730-B305-1154FF5EA65D}"/>
              </a:ext>
            </a:extLst>
          </p:cNvPr>
          <p:cNvSpPr>
            <a:spLocks noGrp="1"/>
          </p:cNvSpPr>
          <p:nvPr/>
        </p:nvSpPr>
        <p:spPr>
          <a:xfrm>
            <a:off x="8991600" y="2667000"/>
            <a:ext cx="1066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force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ED95B8F-F380-4014-977C-009F93F59EFB}"/>
              </a:ext>
            </a:extLst>
          </p:cNvPr>
          <p:cNvSpPr>
            <a:spLocks noGrp="1"/>
          </p:cNvSpPr>
          <p:nvPr/>
        </p:nvSpPr>
        <p:spPr>
          <a:xfrm>
            <a:off x="3676650" y="5372100"/>
            <a:ext cx="723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760"/>
          </a:bodyPr>
          <a:lstStyle/>
          <a:p>
            <a:pPr algn="ctr">
              <a:defRPr sz="1575" b="1">
                <a:solidFill>
                  <a:srgbClr val="23865B"/>
                </a:solidFill>
                <a:latin typeface="Helvetica Neue"/>
                <a:ea typeface="Helvetica Neue"/>
                <a:cs typeface="Helvetica Neue"/>
              </a:defRPr>
            </a:pPr>
            <a:endParaRPr sz="1575" b="1" dirty="0">
              <a:solidFill>
                <a:srgbClr val="23865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D3A7BAC-054A-A2D9-FF0E-359B6DFC8D80}"/>
              </a:ext>
            </a:extLst>
          </p:cNvPr>
          <p:cNvSpPr txBox="1"/>
          <p:nvPr/>
        </p:nvSpPr>
        <p:spPr>
          <a:xfrm>
            <a:off x="7538268" y="1589127"/>
            <a:ext cx="246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Toolhead control system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4BD05B5-A0C4-0A1D-F899-0DB6AB6DB2DC}"/>
              </a:ext>
            </a:extLst>
          </p:cNvPr>
          <p:cNvSpPr txBox="1"/>
          <p:nvPr/>
        </p:nvSpPr>
        <p:spPr>
          <a:xfrm>
            <a:off x="599103" y="1586984"/>
            <a:ext cx="1610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Gcode</a:t>
            </a:r>
            <a:r>
              <a:rPr lang="en-US" dirty="0"/>
              <a:t> creation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E5E04-7CB0-72FA-D318-4A55F9341DF2}"/>
              </a:ext>
            </a:extLst>
          </p:cNvPr>
          <p:cNvSpPr txBox="1"/>
          <p:nvPr/>
        </p:nvSpPr>
        <p:spPr>
          <a:xfrm>
            <a:off x="4223089" y="1583293"/>
            <a:ext cx="1269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Movement 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955FDB0-DDC8-C5C8-A8B8-08EB424FA541}"/>
              </a:ext>
            </a:extLst>
          </p:cNvPr>
          <p:cNvCxnSpPr>
            <a:cxnSpLocks/>
          </p:cNvCxnSpPr>
          <p:nvPr/>
        </p:nvCxnSpPr>
        <p:spPr>
          <a:xfrm flipV="1">
            <a:off x="5650302" y="1767959"/>
            <a:ext cx="1360098" cy="36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357C412-84B9-6F1B-C162-0223C1FB42D1}"/>
              </a:ext>
            </a:extLst>
          </p:cNvPr>
          <p:cNvCxnSpPr>
            <a:cxnSpLocks/>
          </p:cNvCxnSpPr>
          <p:nvPr/>
        </p:nvCxnSpPr>
        <p:spPr>
          <a:xfrm>
            <a:off x="7010400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E02FA32B-5236-35B6-6B7E-FE20E1817A37}"/>
              </a:ext>
            </a:extLst>
          </p:cNvPr>
          <p:cNvCxnSpPr>
            <a:cxnSpLocks/>
          </p:cNvCxnSpPr>
          <p:nvPr/>
        </p:nvCxnSpPr>
        <p:spPr>
          <a:xfrm>
            <a:off x="3336625" y="1767959"/>
            <a:ext cx="68004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29407F56-2D95-693D-921E-554F59250BA0}"/>
              </a:ext>
            </a:extLst>
          </p:cNvPr>
          <p:cNvCxnSpPr>
            <a:cxnSpLocks/>
          </p:cNvCxnSpPr>
          <p:nvPr/>
        </p:nvCxnSpPr>
        <p:spPr>
          <a:xfrm>
            <a:off x="3345252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7BA17C8C-D580-937E-19C0-082D6F033052}"/>
              </a:ext>
            </a:extLst>
          </p:cNvPr>
          <p:cNvCxnSpPr>
            <a:cxnSpLocks/>
          </p:cNvCxnSpPr>
          <p:nvPr/>
        </p:nvCxnSpPr>
        <p:spPr>
          <a:xfrm>
            <a:off x="7142851" y="1767959"/>
            <a:ext cx="31037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575A4A5E-9B01-71CE-F590-571AC4A58CDC}"/>
              </a:ext>
            </a:extLst>
          </p:cNvPr>
          <p:cNvCxnSpPr>
            <a:cxnSpLocks/>
          </p:cNvCxnSpPr>
          <p:nvPr/>
        </p:nvCxnSpPr>
        <p:spPr>
          <a:xfrm>
            <a:off x="7151478" y="1767959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FFC8D22-746A-CE42-186B-8EA1FBE3DE00}"/>
              </a:ext>
            </a:extLst>
          </p:cNvPr>
          <p:cNvCxnSpPr>
            <a:cxnSpLocks/>
          </p:cNvCxnSpPr>
          <p:nvPr/>
        </p:nvCxnSpPr>
        <p:spPr>
          <a:xfrm>
            <a:off x="10086295" y="1764268"/>
            <a:ext cx="1696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0B1708B-7705-026C-BE7C-93FF0AB8FE31}"/>
              </a:ext>
            </a:extLst>
          </p:cNvPr>
          <p:cNvCxnSpPr>
            <a:cxnSpLocks/>
          </p:cNvCxnSpPr>
          <p:nvPr/>
        </p:nvCxnSpPr>
        <p:spPr>
          <a:xfrm>
            <a:off x="11782425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72A3932B-CCA3-5A25-A68A-B951A027AF50}"/>
              </a:ext>
            </a:extLst>
          </p:cNvPr>
          <p:cNvCxnSpPr>
            <a:cxnSpLocks/>
          </p:cNvCxnSpPr>
          <p:nvPr/>
        </p:nvCxnSpPr>
        <p:spPr>
          <a:xfrm>
            <a:off x="213144" y="1764268"/>
            <a:ext cx="295814" cy="738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BEFD1C8-ED86-36D3-4E2D-0E0F131FF231}"/>
              </a:ext>
            </a:extLst>
          </p:cNvPr>
          <p:cNvCxnSpPr>
            <a:cxnSpLocks/>
          </p:cNvCxnSpPr>
          <p:nvPr/>
        </p:nvCxnSpPr>
        <p:spPr>
          <a:xfrm>
            <a:off x="221771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685462D-C93E-8BA5-1982-DF52469C66EC}"/>
              </a:ext>
            </a:extLst>
          </p:cNvPr>
          <p:cNvCxnSpPr>
            <a:cxnSpLocks/>
          </p:cNvCxnSpPr>
          <p:nvPr/>
        </p:nvCxnSpPr>
        <p:spPr>
          <a:xfrm>
            <a:off x="2290133" y="1764268"/>
            <a:ext cx="813989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6EAE1648-79C4-BEBA-4B8F-734B2A7B3DC6}"/>
              </a:ext>
            </a:extLst>
          </p:cNvPr>
          <p:cNvCxnSpPr>
            <a:cxnSpLocks/>
          </p:cNvCxnSpPr>
          <p:nvPr/>
        </p:nvCxnSpPr>
        <p:spPr>
          <a:xfrm>
            <a:off x="3104122" y="1764268"/>
            <a:ext cx="0" cy="518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287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F62304FE-8F32-4772-95F3-8619A29DB5F9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HOMES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7685C0-0485-4145-8C2C-48BB71D7F29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443" lnSpcReduction="20000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Homing establishes two different references: machine position and toolhead </a:t>
            </a:r>
            <a:r>
              <a:rPr lang="en-US" sz="270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touch calibration</a:t>
            </a:r>
            <a:endParaRPr sz="2700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1C4DFF-8E93-4A18-9910-BACD783CBEB1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F349F42-8FEE-4214-8937-62B60507CA1F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31A5DE-132C-4C01-9404-0EF52E0568F2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9DF9717-2CB1-4CF6-B7BB-9A6DCF104766}"/>
              </a:ext>
            </a:extLst>
          </p:cNvPr>
          <p:cNvSpPr>
            <a:spLocks noGrp="1"/>
          </p:cNvSpPr>
          <p:nvPr/>
        </p:nvSpPr>
        <p:spPr>
          <a:xfrm>
            <a:off x="4000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240346-C6D3-43B8-B8D8-02816F4A6539}"/>
              </a:ext>
            </a:extLst>
          </p:cNvPr>
          <p:cNvSpPr>
            <a:spLocks noGrp="1"/>
          </p:cNvSpPr>
          <p:nvPr/>
        </p:nvSpPr>
        <p:spPr>
          <a:xfrm>
            <a:off x="5905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45E72E1-0B42-4078-AD66-7D955CA4BACD}"/>
              </a:ext>
            </a:extLst>
          </p:cNvPr>
          <p:cNvSpPr>
            <a:spLocks noGrp="1"/>
          </p:cNvSpPr>
          <p:nvPr/>
        </p:nvSpPr>
        <p:spPr>
          <a:xfrm>
            <a:off x="5905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P100 requests toolhead home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DB266B-E58E-4FEC-AED4-C8DCB7452B96}"/>
              </a:ext>
            </a:extLst>
          </p:cNvPr>
          <p:cNvSpPr>
            <a:spLocks noGrp="1"/>
          </p:cNvSpPr>
          <p:nvPr/>
        </p:nvSpPr>
        <p:spPr>
          <a:xfrm>
            <a:off x="5905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RP23CNC sends the existing GP28 request.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80339C-413C-465A-A28C-4EAB577535AB}"/>
              </a:ext>
            </a:extLst>
          </p:cNvPr>
          <p:cNvSpPr>
            <a:spLocks noGrp="1"/>
          </p:cNvSpPr>
          <p:nvPr/>
        </p:nvSpPr>
        <p:spPr>
          <a:xfrm>
            <a:off x="23907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EDB9C1A-BFD5-4115-8348-68D6F324BDF9}"/>
              </a:ext>
            </a:extLst>
          </p:cNvPr>
          <p:cNvSpPr>
            <a:spLocks noGrp="1"/>
          </p:cNvSpPr>
          <p:nvPr/>
        </p:nvSpPr>
        <p:spPr>
          <a:xfrm>
            <a:off x="26670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8250A-7295-4A91-A91D-8F397D11EEFD}"/>
              </a:ext>
            </a:extLst>
          </p:cNvPr>
          <p:cNvSpPr>
            <a:spLocks noGrp="1"/>
          </p:cNvSpPr>
          <p:nvPr/>
        </p:nvSpPr>
        <p:spPr>
          <a:xfrm>
            <a:off x="28575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33F64C0-B836-48DF-932E-FE970397D325}"/>
              </a:ext>
            </a:extLst>
          </p:cNvPr>
          <p:cNvSpPr>
            <a:spLocks noGrp="1"/>
          </p:cNvSpPr>
          <p:nvPr/>
        </p:nvSpPr>
        <p:spPr>
          <a:xfrm>
            <a:off x="28575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 Micro verifies 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</a:t>
            </a: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switch</a:t>
            </a:r>
            <a:r>
              <a:rPr lang="en-US"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trigger</a:t>
            </a:r>
            <a:endParaRPr sz="1425" b="1" dirty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58D26CB-876E-4885-B3E4-D9F2885E9A23}"/>
              </a:ext>
            </a:extLst>
          </p:cNvPr>
          <p:cNvSpPr>
            <a:spLocks noGrp="1"/>
          </p:cNvSpPr>
          <p:nvPr/>
        </p:nvSpPr>
        <p:spPr>
          <a:xfrm>
            <a:off x="28575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N20 retracts; the upper switch defines LIFT_HOME.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AD071A-3445-4827-B7E0-542EA5C14503}"/>
              </a:ext>
            </a:extLst>
          </p:cNvPr>
          <p:cNvSpPr>
            <a:spLocks noGrp="1"/>
          </p:cNvSpPr>
          <p:nvPr/>
        </p:nvSpPr>
        <p:spPr>
          <a:xfrm>
            <a:off x="46577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30357E7-35F5-4735-AC3B-0D52BCA51523}"/>
              </a:ext>
            </a:extLst>
          </p:cNvPr>
          <p:cNvSpPr>
            <a:spLocks noGrp="1"/>
          </p:cNvSpPr>
          <p:nvPr/>
        </p:nvSpPr>
        <p:spPr>
          <a:xfrm>
            <a:off x="49339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A6E7461-5D7C-4460-92F0-E0F20009A801}"/>
              </a:ext>
            </a:extLst>
          </p:cNvPr>
          <p:cNvSpPr>
            <a:spLocks noGrp="1"/>
          </p:cNvSpPr>
          <p:nvPr/>
        </p:nvSpPr>
        <p:spPr>
          <a:xfrm>
            <a:off x="51244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225601-4ADE-4DAC-ADDA-C6A954CF3AEA}"/>
              </a:ext>
            </a:extLst>
          </p:cNvPr>
          <p:cNvSpPr>
            <a:spLocks noGrp="1"/>
          </p:cNvSpPr>
          <p:nvPr/>
        </p:nvSpPr>
        <p:spPr>
          <a:xfrm>
            <a:off x="51244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 replies “ready”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87FE05-9D36-421A-B6C2-FA2A9E28691A}"/>
              </a:ext>
            </a:extLst>
          </p:cNvPr>
          <p:cNvSpPr>
            <a:spLocks noGrp="1"/>
          </p:cNvSpPr>
          <p:nvPr/>
        </p:nvSpPr>
        <p:spPr>
          <a:xfrm>
            <a:off x="51244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Existing GP27 signals success; a timeout becomes a fault.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0A2D407-3A90-45E7-8201-FA3CC3A049C3}"/>
              </a:ext>
            </a:extLst>
          </p:cNvPr>
          <p:cNvSpPr>
            <a:spLocks noGrp="1"/>
          </p:cNvSpPr>
          <p:nvPr/>
        </p:nvSpPr>
        <p:spPr>
          <a:xfrm>
            <a:off x="692467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C3299FD-E308-4785-96C4-5930CDCEF2F2}"/>
              </a:ext>
            </a:extLst>
          </p:cNvPr>
          <p:cNvSpPr>
            <a:spLocks noGrp="1"/>
          </p:cNvSpPr>
          <p:nvPr/>
        </p:nvSpPr>
        <p:spPr>
          <a:xfrm>
            <a:off x="720090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302F5F3-25AB-4610-84D0-8993B5EC9745}"/>
              </a:ext>
            </a:extLst>
          </p:cNvPr>
          <p:cNvSpPr>
            <a:spLocks noGrp="1"/>
          </p:cNvSpPr>
          <p:nvPr/>
        </p:nvSpPr>
        <p:spPr>
          <a:xfrm>
            <a:off x="739140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2F0F9C8-0841-4646-A9A1-82CEF9A226C7}"/>
              </a:ext>
            </a:extLst>
          </p:cNvPr>
          <p:cNvSpPr>
            <a:spLocks noGrp="1"/>
          </p:cNvSpPr>
          <p:nvPr/>
        </p:nvSpPr>
        <p:spPr>
          <a:xfrm>
            <a:off x="739140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RP23CNC homes X/Y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526FF82-5772-462D-A938-CCB197698E51}"/>
              </a:ext>
            </a:extLst>
          </p:cNvPr>
          <p:cNvSpPr>
            <a:spLocks noGrp="1"/>
          </p:cNvSpPr>
          <p:nvPr/>
        </p:nvSpPr>
        <p:spPr>
          <a:xfrm>
            <a:off x="739140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Physical axis switches establish gantry coordinates.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B102928-2AD5-45F8-9007-1EE97A046A27}"/>
              </a:ext>
            </a:extLst>
          </p:cNvPr>
          <p:cNvSpPr>
            <a:spLocks noGrp="1"/>
          </p:cNvSpPr>
          <p:nvPr/>
        </p:nvSpPr>
        <p:spPr>
          <a:xfrm>
            <a:off x="9191625" y="3057525"/>
            <a:ext cx="247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→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DBC17A11-E073-49FA-9FD7-611588801019}"/>
              </a:ext>
            </a:extLst>
          </p:cNvPr>
          <p:cNvSpPr>
            <a:spLocks noGrp="1"/>
          </p:cNvSpPr>
          <p:nvPr/>
        </p:nvSpPr>
        <p:spPr>
          <a:xfrm>
            <a:off x="9467850" y="2152650"/>
            <a:ext cx="1962150" cy="2333625"/>
          </a:xfrm>
          <a:prstGeom prst="roundRect">
            <a:avLst>
              <a:gd name="adj" fmla="val 388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F2610C8-F5CA-4D3B-8BB2-DDCA99429F1B}"/>
              </a:ext>
            </a:extLst>
          </p:cNvPr>
          <p:cNvSpPr>
            <a:spLocks noGrp="1"/>
          </p:cNvSpPr>
          <p:nvPr/>
        </p:nvSpPr>
        <p:spPr>
          <a:xfrm>
            <a:off x="9658350" y="23431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FFB761-26BD-4AAA-BE70-2CAC8F99DF05}"/>
              </a:ext>
            </a:extLst>
          </p:cNvPr>
          <p:cNvSpPr>
            <a:spLocks noGrp="1"/>
          </p:cNvSpPr>
          <p:nvPr/>
        </p:nvSpPr>
        <p:spPr>
          <a:xfrm>
            <a:off x="9658350" y="2895600"/>
            <a:ext cx="15811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Magnetic scan registers G54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AA9AE5D-2A21-43EA-8061-0C5E31006C5B}"/>
              </a:ext>
            </a:extLst>
          </p:cNvPr>
          <p:cNvSpPr>
            <a:spLocks noGrp="1"/>
          </p:cNvSpPr>
          <p:nvPr/>
        </p:nvSpPr>
        <p:spPr>
          <a:xfrm>
            <a:off x="9658350" y="3695700"/>
            <a:ext cx="15811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Center magnet sets X/Y zero; outer magnet sets A zero.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092802A-ED6E-4147-8DF0-3901FAE442E5}"/>
              </a:ext>
            </a:extLst>
          </p:cNvPr>
          <p:cNvSpPr>
            <a:spLocks noGrp="1"/>
          </p:cNvSpPr>
          <p:nvPr/>
        </p:nvSpPr>
        <p:spPr>
          <a:xfrm>
            <a:off x="400050" y="5219700"/>
            <a:ext cx="10763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6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</a:t>
            </a:r>
            <a:r>
              <a:rPr lang="en-US"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toolhead</a:t>
            </a:r>
            <a:r>
              <a:rPr sz="1650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 switch remains local to the Pro Micro; the existing GP28/GP27 pair lets P100 receive the result without another RP23CNC pin.</a:t>
            </a:r>
          </a:p>
        </p:txBody>
      </p:sp>
    </p:spTree>
    <p:extLst>
      <p:ext uri="{BB962C8B-B14F-4D97-AF65-F5344CB8AC3E}">
        <p14:creationId xmlns:p14="http://schemas.microsoft.com/office/powerpoint/2010/main" val="15925654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51C760A9-4B49-6A73-4C9A-1FCCFECA19F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2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02966AAC-CE77-345B-9685-363AC942F206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C8809AD-6888-E8B1-1600-967D24442E7A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C92CA85D-B428-37AF-CF04-5E9E5D31441F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F9A2FFD-6D3C-230B-74BD-15184D2DF4DC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EAFDB48-C279-C4A0-6D7C-C12FC3B04D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</p:spTree>
    <p:extLst>
      <p:ext uri="{BB962C8B-B14F-4D97-AF65-F5344CB8AC3E}">
        <p14:creationId xmlns:p14="http://schemas.microsoft.com/office/powerpoint/2010/main" val="151054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1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1 Highlight">
            <a:extLst>
              <a:ext uri="{FF2B5EF4-FFF2-40B4-BE49-F238E27FC236}">
                <a16:creationId xmlns:a16="http://schemas.microsoft.com/office/drawing/2014/main" id="{6A36448E-C653-4D8E-0806-2D059D88EE85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47DC19F-CC0E-3DBD-AAFE-5BFC1F4C765F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CCD6C85B-BC61-1159-A9EB-4DEE90BE5A82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DD9F42D5-7100-B65D-B3A2-9FC45CCA3778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18B61BF8-E517-5508-FEBA-A73673F0BD60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D99E561C-28CC-633F-4985-D2725AA35AFE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401CD9-C7D3-3F82-3702-682FA40087B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CEF202E-B754-A271-22D6-351167702F2F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AD756550-ED54-A3C6-39A3-0CF332046ED4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1. Start command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B807CB2-EC82-3A18-09AF-01ADA23DEF0C}"/>
              </a:ext>
            </a:extLst>
          </p:cNvPr>
          <p:cNvSpPr txBox="1"/>
          <p:nvPr/>
        </p:nvSpPr>
        <p:spPr>
          <a:xfrm>
            <a:off x="5866645" y="2123037"/>
            <a:ext cx="2752254" cy="126377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ioSender → RP23CNC: G65 P100 Q0
Decision owner
RP23CNC / grblHAL starts P100 locally.
Not moved
HX711 force samples stay inside the Pro Micro toolhead.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279E1C06-C5FC-7771-BB9B-D9DA1CB5D1C4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1184750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2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2 Highlight">
            <a:extLst>
              <a:ext uri="{FF2B5EF4-FFF2-40B4-BE49-F238E27FC236}">
                <a16:creationId xmlns:a16="http://schemas.microsoft.com/office/drawing/2014/main" id="{20F7847D-8C3F-85E8-5D10-102892423AFE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FB3E871B-5449-B11D-191B-9BCE52C1BC26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69B28F5D-9DBA-B653-FEC4-93D4B11BBA08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A64CB45D-EBD0-3491-7A52-C2392361F9C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03E1BE0F-05DC-6A92-6ABD-AEDDCFD725B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13BEC0F0-DC05-D29D-C036-21F0ED96E4B0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68E6EFC2-E3EF-CFBF-6F39-43890952236E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DB4135CC-F384-E5B7-5CBA-F519475E9B21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8344B0EB-E729-240C-B272-5DC27A7A0657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2. Toolhead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8382FCCD-CCED-A0F4-474A-19C33B23658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
P100 asserts GP28.
Pro Micro action
N20 retracts until GP2 confirms LIFT_HOME.
Reply
GP27 ready, or a timeout becomes a fault.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7F1B5C27-86DD-3109-8218-5AB6604396E4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43666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3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3 Highlight">
            <a:extLst>
              <a:ext uri="{FF2B5EF4-FFF2-40B4-BE49-F238E27FC236}">
                <a16:creationId xmlns:a16="http://schemas.microsoft.com/office/drawing/2014/main" id="{91B94AE9-E461-66F7-FCC7-FA8CF8572F0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CA86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41A311AC-FE52-4066-CD5F-63034FE4460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229D10D3-8782-98D3-CA79-9733E21A01F0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57602AAE-6504-FE90-5086-CDC50FBFD167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5739D453-CCF2-8895-2811-B3827B632E9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4F2F32F3-9AB2-7C13-1A3D-8F2AB838454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3BD89E2F-BDDE-3193-2D38-2F39E5CB6867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F716E644-4D7F-57F9-C447-5F26B4D7EA2B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44103440-044D-FE0D-28C4-DF8B7A91468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3. Machine home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3B504EB3-11C8-5707-6204-5B06E0033E1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Command
RP23CNC runs .
Result
Physical X/Y switches establish gantry coordinates.
Toolhead stays at LIFT_HOME.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8CBA725B-6CE2-AB54-38CD-CB7E9BAC0533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10487431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4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4 Highlight">
            <a:extLst>
              <a:ext uri="{FF2B5EF4-FFF2-40B4-BE49-F238E27FC236}">
                <a16:creationId xmlns:a16="http://schemas.microsoft.com/office/drawing/2014/main" id="{117C52A5-B189-12A4-D958-BC9BBC3C3E95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7DC4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6239FFE8-1983-751C-FF74-4DAD5061664C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F6539B36-8038-6018-9D89-C18FCE14828A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10A44E18-05A7-8D3D-14D9-DBAA4BDD58D3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66EFFB9C-DAB1-BB22-6C35-9BFE282472EC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9F7A191D-127E-3976-D652-2AA8B41DBBD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56C96F40-7BFA-4421-A10E-8F3E1257BA61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5F1B77DF-9D79-05EF-5F40-16D2A8667562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5434FDA-96C4-A8CC-98E6-504B3F8E5A5A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4. Magnetic registration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156CB25D-77C0-DA0C-4FEB-87867AF2EDB9}"/>
              </a:ext>
            </a:extLst>
          </p:cNvPr>
          <p:cNvSpPr txBox="1"/>
          <p:nvPr/>
        </p:nvSpPr>
        <p:spPr>
          <a:xfrm>
            <a:off x="5866645" y="2123038"/>
            <a:ext cx="2752254" cy="84251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Request / reply
GP28 requests the scan; GP27 reports TMAG.
Result
Center magnet sets G54 X/Y zero.
Outer magnet sets A zero.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86FD7CDA-8052-A1AD-18B3-88194A2EE39A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21651036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5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5 Highlight">
            <a:extLst>
              <a:ext uri="{FF2B5EF4-FFF2-40B4-BE49-F238E27FC236}">
                <a16:creationId xmlns:a16="http://schemas.microsoft.com/office/drawing/2014/main" id="{7F16F13E-E844-C3B3-8EDF-4735DE048CB9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32C2F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7895C82C-98CE-0F30-1E8A-3268F7E34339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AE98F383-9A0E-B31D-98D9-113904BCB0AB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7BD3113B-C884-0799-BFAE-1057EBD0EA3F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E907B343-AF07-68E8-F5B5-30101A27197D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579E2DB0-94AB-7406-C44A-389EBAC7562D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156C76C4-903A-B573-DA1E-E62B0DA2A219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89FE897F-04BC-FA43-95EF-FD5AA8ADA80D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52103310-A1E3-00CA-D853-899611B9D158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5. Per-run touch check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CA9E2D01-1BF7-F06A-80BF-59E1B3A5FA6D}"/>
              </a:ext>
            </a:extLst>
          </p:cNvPr>
          <p:cNvSpPr txBox="1"/>
          <p:nvPr/>
        </p:nvSpPr>
        <p:spPr>
          <a:xfrm>
            <a:off x="5866645" y="2123038"/>
            <a:ext cx="2752254" cy="11233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M3
Seek down to the load-cell contact threshold.
M5
Release, then make a bounded clearance pulse.
Abort
Fail to touch, release, or clear.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35959FFA-F53B-CA42-A932-B1A9960B530B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1182224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100 Detail 6">
    <p:bg>
      <p:bgPr>
        <a:solidFill>
          <a:srgbClr val="141A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-1" y="-1"/>
            <a:ext cx="9753600" cy="6858000"/>
          </a:xfrm>
          <a:prstGeom prst="rect">
            <a:avLst/>
          </a:prstGeom>
        </p:spPr>
      </p:pic>
      <p:sp>
        <p:nvSpPr>
          <p:cNvPr id="6" name="P100 Step 6 Highlight">
            <a:extLst>
              <a:ext uri="{FF2B5EF4-FFF2-40B4-BE49-F238E27FC236}">
                <a16:creationId xmlns:a16="http://schemas.microsoft.com/office/drawing/2014/main" id="{99FA98AA-EAE2-6753-4166-5A747CE2F194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31750">
            <a:solidFill>
              <a:srgbClr val="D6A7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3" name="P100 Step 1 Hit Area">
            <a:hlinkClick r:id="rId4" action="ppaction://hlinksldjump"/>
            <a:hlinkHover r:id="rId4" action="ppaction://hlinksldjump"/>
            <a:extLst>
              <a:ext uri="{FF2B5EF4-FFF2-40B4-BE49-F238E27FC236}">
                <a16:creationId xmlns:a16="http://schemas.microsoft.com/office/drawing/2014/main" id="{224FCB21-0124-F8FC-9344-93F9F0588C5E}"/>
              </a:ext>
            </a:extLst>
          </p:cNvPr>
          <p:cNvSpPr/>
          <p:nvPr/>
        </p:nvSpPr>
        <p:spPr>
          <a:xfrm>
            <a:off x="964194" y="1616044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4" name="P100 Step 2 Hit Area">
            <a:hlinkClick r:id="rId5" action="ppaction://hlinksldjump"/>
            <a:hlinkHover r:id="rId5" action="ppaction://hlinksldjump"/>
            <a:extLst>
              <a:ext uri="{FF2B5EF4-FFF2-40B4-BE49-F238E27FC236}">
                <a16:creationId xmlns:a16="http://schemas.microsoft.com/office/drawing/2014/main" id="{45F1FD27-CDC5-22DA-9824-F1CE42A9046F}"/>
              </a:ext>
            </a:extLst>
          </p:cNvPr>
          <p:cNvSpPr/>
          <p:nvPr/>
        </p:nvSpPr>
        <p:spPr>
          <a:xfrm>
            <a:off x="964194" y="2458016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5" name="P100 Step 3 Hit Area">
            <a:hlinkClick r:id="rId6" action="ppaction://hlinksldjump"/>
            <a:hlinkHover r:id="rId6" action="ppaction://hlinksldjump"/>
            <a:extLst>
              <a:ext uri="{FF2B5EF4-FFF2-40B4-BE49-F238E27FC236}">
                <a16:creationId xmlns:a16="http://schemas.microsoft.com/office/drawing/2014/main" id="{0ED9ADA3-0220-89D3-F7E2-49C7E37AAC6C}"/>
              </a:ext>
            </a:extLst>
          </p:cNvPr>
          <p:cNvSpPr/>
          <p:nvPr/>
        </p:nvSpPr>
        <p:spPr>
          <a:xfrm>
            <a:off x="964194" y="3299988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7" name="P100 Step 4 Hit Area">
            <a:hlinkClick r:id="rId7" action="ppaction://hlinksldjump"/>
            <a:hlinkHover r:id="rId7" action="ppaction://hlinksldjump"/>
            <a:extLst>
              <a:ext uri="{FF2B5EF4-FFF2-40B4-BE49-F238E27FC236}">
                <a16:creationId xmlns:a16="http://schemas.microsoft.com/office/drawing/2014/main" id="{D574CED1-A598-453D-7F70-1E9A5024B0A9}"/>
              </a:ext>
            </a:extLst>
          </p:cNvPr>
          <p:cNvSpPr/>
          <p:nvPr/>
        </p:nvSpPr>
        <p:spPr>
          <a:xfrm>
            <a:off x="964194" y="4141960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8" name="P100 Step 5 Hit Area">
            <a:hlinkClick r:id="rId8" action="ppaction://hlinksldjump"/>
            <a:hlinkHover r:id="rId8" action="ppaction://hlinksldjump"/>
            <a:extLst>
              <a:ext uri="{FF2B5EF4-FFF2-40B4-BE49-F238E27FC236}">
                <a16:creationId xmlns:a16="http://schemas.microsoft.com/office/drawing/2014/main" id="{FE677328-B0F2-83E1-2AE2-ABA52B94DD58}"/>
              </a:ext>
            </a:extLst>
          </p:cNvPr>
          <p:cNvSpPr/>
          <p:nvPr/>
        </p:nvSpPr>
        <p:spPr>
          <a:xfrm>
            <a:off x="964194" y="4983933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19" name="P100 Step 6 Hit Area">
            <a:hlinkClick r:id="rId9" action="ppaction://hlinksldjump"/>
            <a:hlinkHover r:id="rId9" action="ppaction://hlinksldjump"/>
            <a:extLst>
              <a:ext uri="{FF2B5EF4-FFF2-40B4-BE49-F238E27FC236}">
                <a16:creationId xmlns:a16="http://schemas.microsoft.com/office/drawing/2014/main" id="{4C4DA52B-092C-FEF2-6030-2E6DA7F83E7A}"/>
              </a:ext>
            </a:extLst>
          </p:cNvPr>
          <p:cNvSpPr/>
          <p:nvPr/>
        </p:nvSpPr>
        <p:spPr>
          <a:xfrm>
            <a:off x="964194" y="5825905"/>
            <a:ext cx="4617267" cy="570368"/>
          </a:xfrm>
          <a:prstGeom prst="rect">
            <a:avLst/>
          </a:prstGeom>
          <a:solidFill>
            <a:schemeClr val="accent1">
              <a:alpha val="0"/>
            </a:schemeClr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0" name="Matching P100 Map Detail Background">
            <a:extLst>
              <a:ext uri="{FF2B5EF4-FFF2-40B4-BE49-F238E27FC236}">
                <a16:creationId xmlns:a16="http://schemas.microsoft.com/office/drawing/2014/main" id="{96A6C59A-8EFD-8E9A-98CA-807B25989EF4}"/>
              </a:ext>
            </a:extLst>
          </p:cNvPr>
          <p:cNvSpPr/>
          <p:nvPr/>
        </p:nvSpPr>
        <p:spPr>
          <a:xfrm>
            <a:off x="5703683" y="1670364"/>
            <a:ext cx="3078178" cy="2245259"/>
          </a:xfrm>
          <a:prstGeom prst="rect">
            <a:avLst/>
          </a:prstGeom>
          <a:solidFill>
            <a:srgbClr val="2B251F"/>
          </a:solidFill>
          <a:ln w="8890">
            <a:solidFill>
              <a:srgbClr val="6E605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566"/>
          </a:p>
        </p:txBody>
      </p:sp>
      <p:sp>
        <p:nvSpPr>
          <p:cNvPr id="21" name="Matching P100 Map Detail Title">
            <a:extLst>
              <a:ext uri="{FF2B5EF4-FFF2-40B4-BE49-F238E27FC236}">
                <a16:creationId xmlns:a16="http://schemas.microsoft.com/office/drawing/2014/main" id="{79B1B7FA-F6B4-12FF-24AF-F35EF601677B}"/>
              </a:ext>
            </a:extLst>
          </p:cNvPr>
          <p:cNvSpPr txBox="1"/>
          <p:nvPr/>
        </p:nvSpPr>
        <p:spPr>
          <a:xfrm>
            <a:off x="5866645" y="1833327"/>
            <a:ext cx="2752254" cy="164554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1069" b="1">
                <a:solidFill>
                  <a:srgbClr val="FFCC66"/>
                </a:solidFill>
                <a:latin typeface="Aptos" panose="020B0004020202020204" pitchFamily="34" charset="0"/>
              </a:rPr>
              <a:t>6. Ready state</a:t>
            </a:r>
          </a:p>
        </p:txBody>
      </p:sp>
      <p:sp>
        <p:nvSpPr>
          <p:cNvPr id="22" name="Matching P100 Map Detail Body">
            <a:extLst>
              <a:ext uri="{FF2B5EF4-FFF2-40B4-BE49-F238E27FC236}">
                <a16:creationId xmlns:a16="http://schemas.microsoft.com/office/drawing/2014/main" id="{FC948654-D1C0-901A-42AD-B9C9346D71C8}"/>
              </a:ext>
            </a:extLst>
          </p:cNvPr>
          <p:cNvSpPr txBox="1"/>
          <p:nvPr/>
        </p:nvSpPr>
        <p:spPr>
          <a:xfrm>
            <a:off x="5866645" y="2123038"/>
            <a:ext cx="2752254" cy="982935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r>
              <a:rPr lang="en-US" sz="912">
                <a:solidFill>
                  <a:srgbClr val="F7F4F0"/>
                </a:solidFill>
                <a:latin typeface="Aptos" panose="020B0004020202020204" pitchFamily="34" charset="0"/>
              </a:rPr>
              <a:t>Ready
G54 registered; pen clear of paper.
Drawing
M3 writes. M5 releases and travels.
GP2 is not used for each lift.</a:t>
            </a:r>
          </a:p>
        </p:txBody>
      </p:sp>
      <p:sp>
        <p:nvSpPr>
          <p:cNvPr id="7" name="P100 Back Button">
            <a:hlinkClick r:id="rId10" action="ppaction://hlinksldjump"/>
            <a:hlinkHover r:id="rId10" action="ppaction://hlinksldjump"/>
            <a:extLst>
              <a:ext uri="{FF2B5EF4-FFF2-40B4-BE49-F238E27FC236}">
                <a16:creationId xmlns:a16="http://schemas.microsoft.com/office/drawing/2014/main" id="{43817E0E-2D88-6DF8-F1C7-93B18E4DC589}"/>
              </a:ext>
            </a:extLst>
          </p:cNvPr>
          <p:cNvSpPr/>
          <p:nvPr/>
        </p:nvSpPr>
        <p:spPr>
          <a:xfrm>
            <a:off x="10058400" y="6172200"/>
            <a:ext cx="1714500" cy="304800"/>
          </a:xfrm>
          <a:prstGeom prst="roundRect">
            <a:avLst/>
          </a:prstGeom>
          <a:solidFill>
            <a:srgbClr val="F4F4F4"/>
          </a:solidFill>
          <a:ln w="12700">
            <a:solidFill>
              <a:srgbClr val="FFA5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b="1">
                <a:solidFill>
                  <a:srgbClr val="FFA533"/>
                </a:solidFill>
                <a:latin typeface="Aptos" panose="020B0004020202020204" pitchFamily="34" charset="0"/>
              </a:rPr>
              <a:t>BACK</a:t>
            </a:r>
          </a:p>
        </p:txBody>
      </p:sp>
    </p:spTree>
    <p:extLst>
      <p:ext uri="{BB962C8B-B14F-4D97-AF65-F5344CB8AC3E}">
        <p14:creationId xmlns:p14="http://schemas.microsoft.com/office/powerpoint/2010/main" val="30312879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5181F8B7-18C1-4C19-8204-9B8D54568C82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HOW THE MACHINE PRINTS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9D74CBB-2FDF-46A7-A047-48EF0BF396C3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000" lnSpcReduction="10000"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print cycle uses force feedback to find paper and maintain pressure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AD879BC-F633-4DA1-A485-E2C29792AE97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016B35-71BC-46CA-B04C-5134B4B561D3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AEA44-20C9-488D-9B62-A4B1B1D3AC7C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9447F00-4038-42A6-A78F-E7C8B169F076}"/>
              </a:ext>
            </a:extLst>
          </p:cNvPr>
          <p:cNvSpPr>
            <a:spLocks noGrp="1"/>
          </p:cNvSpPr>
          <p:nvPr/>
        </p:nvSpPr>
        <p:spPr>
          <a:xfrm>
            <a:off x="49530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10310CA-84F4-4DDC-B3A5-A5DE9FFEA2CA}"/>
              </a:ext>
            </a:extLst>
          </p:cNvPr>
          <p:cNvSpPr>
            <a:spLocks noGrp="1"/>
          </p:cNvSpPr>
          <p:nvPr/>
        </p:nvSpPr>
        <p:spPr>
          <a:xfrm>
            <a:off x="78105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M3  •  engage and write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9E13D9C-3903-40A3-A81C-9652B17D4275}"/>
              </a:ext>
            </a:extLst>
          </p:cNvPr>
          <p:cNvSpPr>
            <a:spLocks noGrp="1"/>
          </p:cNvSpPr>
          <p:nvPr/>
        </p:nvSpPr>
        <p:spPr>
          <a:xfrm>
            <a:off x="78105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lowers the carriage slowly.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Load cell crosses the contact threshold.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Controller holds the selected writing force while X/Y/A move.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EF397D9B-9706-4D97-8C0C-8EBB14890C39}"/>
              </a:ext>
            </a:extLst>
          </p:cNvPr>
          <p:cNvSpPr>
            <a:spLocks noGrp="1"/>
          </p:cNvSpPr>
          <p:nvPr/>
        </p:nvSpPr>
        <p:spPr>
          <a:xfrm>
            <a:off x="6838950" y="1857375"/>
            <a:ext cx="4857750" cy="3143250"/>
          </a:xfrm>
          <a:prstGeom prst="roundRect">
            <a:avLst>
              <a:gd name="adj" fmla="val 2424"/>
            </a:avLst>
          </a:prstGeom>
          <a:solidFill>
            <a:srgbClr val="FFF4E7"/>
          </a:solidFill>
          <a:ln w="9525">
            <a:solidFill>
              <a:srgbClr val="BE7C2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976D4D3-209D-465A-9A74-C8AD44A9846A}"/>
              </a:ext>
            </a:extLst>
          </p:cNvPr>
          <p:cNvSpPr>
            <a:spLocks noGrp="1"/>
          </p:cNvSpPr>
          <p:nvPr/>
        </p:nvSpPr>
        <p:spPr>
          <a:xfrm>
            <a:off x="7124700" y="2190750"/>
            <a:ext cx="4095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M5  •  release and travel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C289CC5-71E7-4162-B9FF-95458502AAC3}"/>
              </a:ext>
            </a:extLst>
          </p:cNvPr>
          <p:cNvSpPr>
            <a:spLocks noGrp="1"/>
          </p:cNvSpPr>
          <p:nvPr/>
        </p:nvSpPr>
        <p:spPr>
          <a:xfrm>
            <a:off x="7124700" y="2800350"/>
            <a:ext cx="3981450" cy="1676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lnSpcReduction="10000"/>
          </a:bodyPr>
          <a:lstStyle/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1. N20 retracts until the load cell says the pen released.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2. A bounded clearance pulse creates an air gap.</a:t>
            </a:r>
          </a:p>
          <a:p>
            <a:endParaRPr sz="1500" b="0">
              <a:solidFill>
                <a:srgbClr val="000000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3. The machine travels to the next mark without moving to the distant home switch.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F1AB35-19EB-4325-9C47-4A797FA3118F}"/>
              </a:ext>
            </a:extLst>
          </p:cNvPr>
          <p:cNvSpPr>
            <a:spLocks noGrp="1"/>
          </p:cNvSpPr>
          <p:nvPr/>
        </p:nvSpPr>
        <p:spPr>
          <a:xfrm>
            <a:off x="1123950" y="54292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spring provides compliance; the load cell determines pressing versus clear.</a:t>
            </a:r>
          </a:p>
        </p:txBody>
      </p:sp>
    </p:spTree>
    <p:extLst>
      <p:ext uri="{BB962C8B-B14F-4D97-AF65-F5344CB8AC3E}">
        <p14:creationId xmlns:p14="http://schemas.microsoft.com/office/powerpoint/2010/main" val="2151662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6F3120CE-A278-4DE4-AD80-D4DC1D123C15}"/>
              </a:ext>
            </a:extLst>
          </p:cNvPr>
          <p:cNvSpPr>
            <a:spLocks noGrp="1"/>
          </p:cNvSpPr>
          <p:nvPr/>
        </p:nvSpPr>
        <p:spPr>
          <a:xfrm>
            <a:off x="400050" y="3429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NEXT STEPS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A6AE53-AD58-4E52-B393-414681A316C6}"/>
              </a:ext>
            </a:extLst>
          </p:cNvPr>
          <p:cNvSpPr>
            <a:spLocks noGrp="1"/>
          </p:cNvSpPr>
          <p:nvPr/>
        </p:nvSpPr>
        <p:spPr>
          <a:xfrm>
            <a:off x="400050" y="685800"/>
            <a:ext cx="1066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Next: measure, verify, then make a calibration drawing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09F2E39-8BF6-4B94-A2C5-D953FE5E8A25}"/>
              </a:ext>
            </a:extLst>
          </p:cNvPr>
          <p:cNvSpPr>
            <a:spLocks noGrp="1"/>
          </p:cNvSpPr>
          <p:nvPr/>
        </p:nvSpPr>
        <p:spPr>
          <a:xfrm>
            <a:off x="400050" y="6343650"/>
            <a:ext cx="11391900" cy="9525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0966DD7-3920-4FA6-A491-D7945580FBAC}"/>
              </a:ext>
            </a:extLst>
          </p:cNvPr>
          <p:cNvSpPr>
            <a:spLocks noGrp="1"/>
          </p:cNvSpPr>
          <p:nvPr/>
        </p:nvSpPr>
        <p:spPr>
          <a:xfrm>
            <a:off x="400050" y="6477000"/>
            <a:ext cx="6191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THETA PEN PLOTTER  •  SUMMER PROGRESS UPDATE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F9E131-E1CF-420A-9F71-A52E237094F7}"/>
              </a:ext>
            </a:extLst>
          </p:cNvPr>
          <p:cNvSpPr>
            <a:spLocks noGrp="1"/>
          </p:cNvSpPr>
          <p:nvPr/>
        </p:nvSpPr>
        <p:spPr>
          <a:xfrm>
            <a:off x="11287125" y="6477000"/>
            <a:ext cx="4953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def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A44B7-ECD2-4982-853D-CBA0F6874ED8}"/>
              </a:ext>
            </a:extLst>
          </p:cNvPr>
          <p:cNvSpPr>
            <a:spLocks noGrp="1"/>
          </p:cNvSpPr>
          <p:nvPr/>
        </p:nvSpPr>
        <p:spPr>
          <a:xfrm>
            <a:off x="962025" y="20383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8CD63C9-FB5D-4CF9-B636-255C9D995C34}"/>
              </a:ext>
            </a:extLst>
          </p:cNvPr>
          <p:cNvSpPr>
            <a:spLocks noGrp="1"/>
          </p:cNvSpPr>
          <p:nvPr/>
        </p:nvSpPr>
        <p:spPr>
          <a:xfrm>
            <a:off x="400050" y="17145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2A3837-4B0C-4616-9BC9-FA376B966A92}"/>
              </a:ext>
            </a:extLst>
          </p:cNvPr>
          <p:cNvSpPr>
            <a:spLocks noGrp="1"/>
          </p:cNvSpPr>
          <p:nvPr/>
        </p:nvSpPr>
        <p:spPr>
          <a:xfrm>
            <a:off x="495300" y="18859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E-07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F609BC2-063A-48B2-AD29-A914A2B36501}"/>
              </a:ext>
            </a:extLst>
          </p:cNvPr>
          <p:cNvSpPr>
            <a:spLocks noGrp="1"/>
          </p:cNvSpPr>
          <p:nvPr/>
        </p:nvSpPr>
        <p:spPr>
          <a:xfrm>
            <a:off x="1752600" y="17526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Calibrate load cell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918645-EE17-49CF-8D5F-2C0EF7C54067}"/>
              </a:ext>
            </a:extLst>
          </p:cNvPr>
          <p:cNvSpPr>
            <a:spLocks noGrp="1"/>
          </p:cNvSpPr>
          <p:nvPr/>
        </p:nvSpPr>
        <p:spPr>
          <a:xfrm>
            <a:off x="1752600" y="20383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Convert HX711 readings into reliable force units.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07F70C5-0635-4E9C-8C8E-0B6DCED6C29E}"/>
              </a:ext>
            </a:extLst>
          </p:cNvPr>
          <p:cNvSpPr>
            <a:spLocks noGrp="1"/>
          </p:cNvSpPr>
          <p:nvPr/>
        </p:nvSpPr>
        <p:spPr>
          <a:xfrm>
            <a:off x="962025" y="28194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3B52F5A-584B-4620-B432-56CF4204CEDA}"/>
              </a:ext>
            </a:extLst>
          </p:cNvPr>
          <p:cNvSpPr>
            <a:spLocks noGrp="1"/>
          </p:cNvSpPr>
          <p:nvPr/>
        </p:nvSpPr>
        <p:spPr>
          <a:xfrm>
            <a:off x="400050" y="24955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8BD5C5-55D1-4232-98F1-B8BE74E6A6EC}"/>
              </a:ext>
            </a:extLst>
          </p:cNvPr>
          <p:cNvSpPr>
            <a:spLocks noGrp="1"/>
          </p:cNvSpPr>
          <p:nvPr/>
        </p:nvSpPr>
        <p:spPr>
          <a:xfrm>
            <a:off x="495300" y="26670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T-01G/H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6DEB15B-1687-4046-936B-11D47DE10982}"/>
              </a:ext>
            </a:extLst>
          </p:cNvPr>
          <p:cNvSpPr>
            <a:spLocks noGrp="1"/>
          </p:cNvSpPr>
          <p:nvPr/>
        </p:nvSpPr>
        <p:spPr>
          <a:xfrm>
            <a:off x="1752600" y="25336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Verify lift and clear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84570F-8D3A-4CF1-A4AD-E7CBA58347BD}"/>
              </a:ext>
            </a:extLst>
          </p:cNvPr>
          <p:cNvSpPr>
            <a:spLocks noGrp="1"/>
          </p:cNvSpPr>
          <p:nvPr/>
        </p:nvSpPr>
        <p:spPr>
          <a:xfrm>
            <a:off x="1752600" y="28194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Prove GP2 homing and repeatable M5 release/clearance.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2CB085-06EA-4906-8EA2-08F426296908}"/>
              </a:ext>
            </a:extLst>
          </p:cNvPr>
          <p:cNvSpPr>
            <a:spLocks noGrp="1"/>
          </p:cNvSpPr>
          <p:nvPr/>
        </p:nvSpPr>
        <p:spPr>
          <a:xfrm>
            <a:off x="962025" y="36004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4723233-8F73-4590-A710-01004AEFC83E}"/>
              </a:ext>
            </a:extLst>
          </p:cNvPr>
          <p:cNvSpPr>
            <a:spLocks noGrp="1"/>
          </p:cNvSpPr>
          <p:nvPr/>
        </p:nvSpPr>
        <p:spPr>
          <a:xfrm>
            <a:off x="400050" y="32766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C87C64A-6C3B-4BF0-9D56-8551C3949B16}"/>
              </a:ext>
            </a:extLst>
          </p:cNvPr>
          <p:cNvSpPr>
            <a:spLocks noGrp="1"/>
          </p:cNvSpPr>
          <p:nvPr/>
        </p:nvSpPr>
        <p:spPr>
          <a:xfrm>
            <a:off x="495300" y="34480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T-01J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FB96B44-BF51-4D93-928C-72F06C8710B5}"/>
              </a:ext>
            </a:extLst>
          </p:cNvPr>
          <p:cNvSpPr>
            <a:spLocks noGrp="1"/>
          </p:cNvSpPr>
          <p:nvPr/>
        </p:nvSpPr>
        <p:spPr>
          <a:xfrm>
            <a:off x="1752600" y="33147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 dirty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Check writing tool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307825B-54AD-4503-AA9D-13F4FD50DE31}"/>
              </a:ext>
            </a:extLst>
          </p:cNvPr>
          <p:cNvSpPr>
            <a:spLocks noGrp="1"/>
          </p:cNvSpPr>
          <p:nvPr/>
        </p:nvSpPr>
        <p:spPr>
          <a:xfrm>
            <a:off x="1752600" y="36004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Touch and clear before every run; </a:t>
            </a:r>
            <a:r>
              <a:rPr lang="en-US" sz="1200" b="0" dirty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works with pens or pencils.</a:t>
            </a:r>
            <a:endParaRPr sz="1200" b="0" dirty="0">
              <a:solidFill>
                <a:srgbClr val="59616B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87ED91-503A-47EB-9E54-A9F24EF8A8F2}"/>
              </a:ext>
            </a:extLst>
          </p:cNvPr>
          <p:cNvSpPr>
            <a:spLocks noGrp="1"/>
          </p:cNvSpPr>
          <p:nvPr/>
        </p:nvSpPr>
        <p:spPr>
          <a:xfrm>
            <a:off x="962025" y="438150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A9D67F-49F5-45CC-9586-5D8B58C87CF0}"/>
              </a:ext>
            </a:extLst>
          </p:cNvPr>
          <p:cNvSpPr>
            <a:spLocks noGrp="1"/>
          </p:cNvSpPr>
          <p:nvPr/>
        </p:nvSpPr>
        <p:spPr>
          <a:xfrm>
            <a:off x="400050" y="405765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DEDED"/>
          </a:solidFill>
          <a:ln w="9525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2755A75-62DC-4F26-8921-5F7CE8AA4E07}"/>
              </a:ext>
            </a:extLst>
          </p:cNvPr>
          <p:cNvSpPr>
            <a:spLocks noGrp="1"/>
          </p:cNvSpPr>
          <p:nvPr/>
        </p:nvSpPr>
        <p:spPr>
          <a:xfrm>
            <a:off x="495300" y="422910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4653" lnSpcReduction="10000"/>
          </a:bodyPr>
          <a:lstStyle/>
          <a:p>
            <a:pPr algn="ctr">
              <a:def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F-05 / integration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E79AD77-810E-4670-8A2E-046B9C017EEB}"/>
              </a:ext>
            </a:extLst>
          </p:cNvPr>
          <p:cNvSpPr>
            <a:spLocks noGrp="1"/>
          </p:cNvSpPr>
          <p:nvPr/>
        </p:nvSpPr>
        <p:spPr>
          <a:xfrm>
            <a:off x="1752600" y="409575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Connect M3/M5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3A93B3-A53C-4150-A3BD-AA1B6FFC1839}"/>
              </a:ext>
            </a:extLst>
          </p:cNvPr>
          <p:cNvSpPr>
            <a:spLocks noGrp="1"/>
          </p:cNvSpPr>
          <p:nvPr/>
        </p:nvSpPr>
        <p:spPr>
          <a:xfrm>
            <a:off x="1752600" y="438150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Verify the motion controller and toolhead work together.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B9CBB77-16D5-4B38-9BD4-F9DA9EAB7C80}"/>
              </a:ext>
            </a:extLst>
          </p:cNvPr>
          <p:cNvSpPr>
            <a:spLocks noGrp="1"/>
          </p:cNvSpPr>
          <p:nvPr/>
        </p:nvSpPr>
        <p:spPr>
          <a:xfrm>
            <a:off x="962025" y="5162550"/>
            <a:ext cx="38100" cy="666750"/>
          </a:xfrm>
          <a:prstGeom prst="rect">
            <a:avLst/>
          </a:prstGeom>
          <a:solidFill>
            <a:srgbClr val="B8BCC4"/>
          </a:solidFill>
          <a:ln w="0">
            <a:solidFill>
              <a:srgbClr val="B8BCC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00926D51-8FAA-465C-AD4A-BDFF0EEC4AD2}"/>
              </a:ext>
            </a:extLst>
          </p:cNvPr>
          <p:cNvSpPr>
            <a:spLocks noGrp="1"/>
          </p:cNvSpPr>
          <p:nvPr/>
        </p:nvSpPr>
        <p:spPr>
          <a:xfrm>
            <a:off x="400050" y="4838700"/>
            <a:ext cx="990600" cy="590550"/>
          </a:xfrm>
          <a:prstGeom prst="roundRect">
            <a:avLst>
              <a:gd name="adj" fmla="val 12903"/>
            </a:avLst>
          </a:prstGeom>
          <a:solidFill>
            <a:srgbClr val="EAF5FB"/>
          </a:solidFill>
          <a:ln w="9525">
            <a:solidFill>
              <a:srgbClr val="3D8D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7F1D206-A7D4-4835-89BA-A526A1CA6003}"/>
              </a:ext>
            </a:extLst>
          </p:cNvPr>
          <p:cNvSpPr>
            <a:spLocks noGrp="1"/>
          </p:cNvSpPr>
          <p:nvPr/>
        </p:nvSpPr>
        <p:spPr>
          <a:xfrm>
            <a:off x="495300" y="5010150"/>
            <a:ext cx="80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7685" lnSpcReduction="10000"/>
          </a:bodyPr>
          <a:lstStyle/>
          <a:p>
            <a:pPr algn="ctr">
              <a:def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3D8DFF"/>
                </a:solidFill>
                <a:latin typeface="Helvetica Neue"/>
                <a:ea typeface="Helvetica Neue"/>
                <a:cs typeface="Helvetica Neue"/>
              </a:rPr>
              <a:t>Calibration drawing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B7EDDD2-AF9C-4D26-B2E4-9CF086B88824}"/>
              </a:ext>
            </a:extLst>
          </p:cNvPr>
          <p:cNvSpPr>
            <a:spLocks noGrp="1"/>
          </p:cNvSpPr>
          <p:nvPr/>
        </p:nvSpPr>
        <p:spPr>
          <a:xfrm>
            <a:off x="1752600" y="4876800"/>
            <a:ext cx="3219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Demonstrate the system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1B2ACB4-5A14-494F-BAA1-E7B650B3CFBD}"/>
              </a:ext>
            </a:extLst>
          </p:cNvPr>
          <p:cNvSpPr>
            <a:spLocks noGrp="1"/>
          </p:cNvSpPr>
          <p:nvPr/>
        </p:nvSpPr>
        <p:spPr>
          <a:xfrm>
            <a:off x="1752600" y="5162550"/>
            <a:ext cx="790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9616B"/>
                </a:solidFill>
                <a:latin typeface="Helvetica Neue"/>
                <a:ea typeface="Helvetica Neue"/>
                <a:cs typeface="Helvetica Neue"/>
              </a:rPr>
              <a:t>Measure line quality, force trace, and geometry.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915F8DA-30D9-453D-B4F0-B3ADCBB6FB56}"/>
              </a:ext>
            </a:extLst>
          </p:cNvPr>
          <p:cNvSpPr>
            <a:spLocks noGrp="1"/>
          </p:cNvSpPr>
          <p:nvPr/>
        </p:nvSpPr>
        <p:spPr>
          <a:xfrm>
            <a:off x="400050" y="5810250"/>
            <a:ext cx="10477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833" lnSpcReduction="10000"/>
          </a:bodyPr>
          <a:lstStyle/>
          <a:p>
            <a:pPr algn="l">
              <a:def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Current status: the design has defined ownership, safe states, and tests. The remaining work is to measure and verify those decisions on the installed machine.</a:t>
            </a:r>
          </a:p>
        </p:txBody>
      </p:sp>
    </p:spTree>
    <p:extLst>
      <p:ext uri="{BB962C8B-B14F-4D97-AF65-F5344CB8AC3E}">
        <p14:creationId xmlns:p14="http://schemas.microsoft.com/office/powerpoint/2010/main" val="390580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1191</Words>
  <Application>Microsoft Office PowerPoint</Application>
  <DocSecurity>0</DocSecurity>
  <PresentationFormat>Widescreen</PresentationFormat>
  <Paragraphs>181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Helvetica Neue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Kevin Claypool</cp:lastModifiedBy>
  <cp:revision>6</cp:revision>
  <dcterms:created xsi:type="dcterms:W3CDTF">2026-09-02T20:10:32Z</dcterms:created>
  <dcterms:modified xsi:type="dcterms:W3CDTF">2026-09-02T21:16:10Z</dcterms:modified>
</cp:coreProperties>
</file>