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8" r:id="rId7"/>
    <p:sldId id="267" r:id="rId8"/>
    <p:sldId id="266" r:id="rId9"/>
    <p:sldId id="265" r:id="rId10"/>
    <p:sldId id="264" r:id="rId11"/>
    <p:sldId id="263" r:id="rId12"/>
    <p:sldId id="261" r:id="rId13"/>
    <p:sldId id="26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User-provided toolhead CAD render.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project architecture, test plan, and user-provided CAD.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system architecture and interface documents.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firmware/pen_pressure/CONTROL_STRATEGY.md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docs/testing/TEST_PLAN.md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10" Type="http://schemas.openxmlformats.org/officeDocument/2006/relationships/slide" Target="slide5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10" Type="http://schemas.openxmlformats.org/officeDocument/2006/relationships/slide" Target="slide5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10" Type="http://schemas.openxmlformats.org/officeDocument/2006/relationships/slide" Target="slide5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10" Type="http://schemas.openxmlformats.org/officeDocument/2006/relationships/slide" Target="slide5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10" Type="http://schemas.openxmlformats.org/officeDocument/2006/relationships/slide" Target="slide5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10" Type="http://schemas.openxmlformats.org/officeDocument/2006/relationships/slide" Target="slide5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A7D2EF2-BFA3-4766-B942-23E570E48309}"/>
              </a:ext>
            </a:extLst>
          </p:cNvPr>
          <p:cNvSpPr>
            <a:spLocks noGrp="1"/>
          </p:cNvSpPr>
          <p:nvPr/>
        </p:nvSpPr>
        <p:spPr>
          <a:xfrm>
            <a:off x="400050" y="41910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SUMMER PROGRESS UPDATE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209B30-5687-4D31-B45B-B18289FD1874}"/>
              </a:ext>
            </a:extLst>
          </p:cNvPr>
          <p:cNvSpPr>
            <a:spLocks noGrp="1"/>
          </p:cNvSpPr>
          <p:nvPr/>
        </p:nvSpPr>
        <p:spPr>
          <a:xfrm>
            <a:off x="400050" y="1104900"/>
            <a:ext cx="53340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10000"/>
          </a:bodyPr>
          <a:lstStyle/>
          <a:p>
            <a:pPr algn="l">
              <a:defRPr sz="4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4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XY </a:t>
            </a:r>
            <a:r>
              <a:rPr sz="4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Theta Pen Plotter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D776E8-8ED9-48FA-BCA2-259250FFD263}"/>
              </a:ext>
            </a:extLst>
          </p:cNvPr>
          <p:cNvSpPr>
            <a:spLocks noGrp="1"/>
          </p:cNvSpPr>
          <p:nvPr/>
        </p:nvSpPr>
        <p:spPr>
          <a:xfrm>
            <a:off x="400050" y="2438400"/>
            <a:ext cx="49530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0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20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Path to </a:t>
            </a:r>
            <a:r>
              <a:rPr lang="en-US" sz="2025" b="0" dirty="0" err="1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commisioning</a:t>
            </a:r>
            <a:endParaRPr sz="20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52D98DF-1233-450F-A29D-86072603A44D}"/>
              </a:ext>
            </a:extLst>
          </p:cNvPr>
          <p:cNvSpPr>
            <a:spLocks noGrp="1"/>
          </p:cNvSpPr>
          <p:nvPr/>
        </p:nvSpPr>
        <p:spPr>
          <a:xfrm>
            <a:off x="400050" y="3905250"/>
            <a:ext cx="4572000" cy="28575"/>
          </a:xfrm>
          <a:prstGeom prst="rect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70773F-8C93-41F1-9E9B-6EE3F437BD4A}"/>
              </a:ext>
            </a:extLst>
          </p:cNvPr>
          <p:cNvSpPr>
            <a:spLocks noGrp="1"/>
          </p:cNvSpPr>
          <p:nvPr/>
        </p:nvSpPr>
        <p:spPr>
          <a:xfrm>
            <a:off x="400050" y="417195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Course progress update  •  September 2026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03919" y="552450"/>
            <a:ext cx="4413411" cy="5334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05FB2DD-B9EE-4E50-ACD4-DD43F4B76831}"/>
              </a:ext>
            </a:extLst>
          </p:cNvPr>
          <p:cNvSpPr>
            <a:spLocks noGrp="1"/>
          </p:cNvSpPr>
          <p:nvPr/>
        </p:nvSpPr>
        <p:spPr>
          <a:xfrm>
            <a:off x="6191250" y="5829300"/>
            <a:ext cx="523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 toolhead combines an N20 lead-screw actuator, spring compliance, load cell, and guided pen carriage.</a:t>
            </a:r>
          </a:p>
        </p:txBody>
      </p:sp>
    </p:spTree>
    <p:extLst>
      <p:ext uri="{BB962C8B-B14F-4D97-AF65-F5344CB8AC3E}">
        <p14:creationId xmlns:p14="http://schemas.microsoft.com/office/powerpoint/2010/main" val="11466599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4A5F06BD-8CC6-47BD-A58B-0692AC957AAE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SUMMER PROGRESS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1DDECE-ED75-4D68-B915-72CBDC91319D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project now has a testable machine architecture—not just a concept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6F1AAD-6BDC-49E5-A31E-92FC6FA179A0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2B871E-710A-4CFB-90CD-A6F6843CC7D2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06B145-D384-4C71-88C4-25E96383962C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9FBEA32-CAF5-47CF-B578-4F937F68C114}"/>
              </a:ext>
            </a:extLst>
          </p:cNvPr>
          <p:cNvSpPr>
            <a:spLocks noGrp="1"/>
          </p:cNvSpPr>
          <p:nvPr/>
        </p:nvSpPr>
        <p:spPr>
          <a:xfrm>
            <a:off x="400050" y="1809750"/>
            <a:ext cx="3333750" cy="3143250"/>
          </a:xfrm>
          <a:prstGeom prst="roundRect">
            <a:avLst>
              <a:gd name="adj" fmla="val 2424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EB43A4-49B2-4CFE-A8D3-0660DDB6421D}"/>
              </a:ext>
            </a:extLst>
          </p:cNvPr>
          <p:cNvSpPr>
            <a:spLocks noGrp="1"/>
          </p:cNvSpPr>
          <p:nvPr/>
        </p:nvSpPr>
        <p:spPr>
          <a:xfrm>
            <a:off x="628650" y="20955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MECHANICAL TOOLHEAD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9CB59F-E0E2-4955-A9F6-BA309CE768B0}"/>
              </a:ext>
            </a:extLst>
          </p:cNvPr>
          <p:cNvSpPr>
            <a:spLocks noGrp="1"/>
          </p:cNvSpPr>
          <p:nvPr/>
        </p:nvSpPr>
        <p:spPr>
          <a:xfrm>
            <a:off x="628650" y="2552700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Built and iterated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F31B40-7DDD-4F76-8993-A7FC7C64D503}"/>
              </a:ext>
            </a:extLst>
          </p:cNvPr>
          <p:cNvSpPr>
            <a:spLocks noGrp="1"/>
          </p:cNvSpPr>
          <p:nvPr/>
        </p:nvSpPr>
        <p:spPr>
          <a:xfrm>
            <a:off x="628650" y="3333750"/>
            <a:ext cx="2857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Guided pen carriage, N20 lead-screw actuator, spring compliance, load-cell force path, and printed mounting concepts.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58BD53D-1252-45CC-B3BC-A547ACBF2210}"/>
              </a:ext>
            </a:extLst>
          </p:cNvPr>
          <p:cNvSpPr>
            <a:spLocks noGrp="1"/>
          </p:cNvSpPr>
          <p:nvPr/>
        </p:nvSpPr>
        <p:spPr>
          <a:xfrm>
            <a:off x="4133850" y="1809750"/>
            <a:ext cx="3333750" cy="3143250"/>
          </a:xfrm>
          <a:prstGeom prst="roundRect">
            <a:avLst>
              <a:gd name="adj" fmla="val 2424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6A0FED7-933E-4FC8-8769-A68A4B75DF46}"/>
              </a:ext>
            </a:extLst>
          </p:cNvPr>
          <p:cNvSpPr>
            <a:spLocks noGrp="1"/>
          </p:cNvSpPr>
          <p:nvPr/>
        </p:nvSpPr>
        <p:spPr>
          <a:xfrm>
            <a:off x="4362450" y="20955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CONTROL SPLIT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232C66-4EA1-4BAF-AD75-5FFC5C2E698D}"/>
              </a:ext>
            </a:extLst>
          </p:cNvPr>
          <p:cNvSpPr>
            <a:spLocks noGrp="1"/>
          </p:cNvSpPr>
          <p:nvPr/>
        </p:nvSpPr>
        <p:spPr>
          <a:xfrm>
            <a:off x="4362450" y="2552700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Defined ownership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058906-5EC3-40B6-9147-95130B863FF4}"/>
              </a:ext>
            </a:extLst>
          </p:cNvPr>
          <p:cNvSpPr>
            <a:spLocks noGrp="1"/>
          </p:cNvSpPr>
          <p:nvPr/>
        </p:nvSpPr>
        <p:spPr>
          <a:xfrm>
            <a:off x="4362450" y="3333750"/>
            <a:ext cx="2857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RP23CNC owns X/Y/A motion and registration. The Pro Micro owns N20 motion, force sensing, and toolhead safety.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BE86D09-958A-4C34-9887-4AE3AFA0D884}"/>
              </a:ext>
            </a:extLst>
          </p:cNvPr>
          <p:cNvSpPr>
            <a:spLocks noGrp="1"/>
          </p:cNvSpPr>
          <p:nvPr/>
        </p:nvSpPr>
        <p:spPr>
          <a:xfrm>
            <a:off x="7867650" y="1809750"/>
            <a:ext cx="3333750" cy="3143250"/>
          </a:xfrm>
          <a:prstGeom prst="roundRect">
            <a:avLst>
              <a:gd name="adj" fmla="val 2424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AA3BF94-CF09-4096-BF4A-D1253318DA33}"/>
              </a:ext>
            </a:extLst>
          </p:cNvPr>
          <p:cNvSpPr>
            <a:spLocks noGrp="1"/>
          </p:cNvSpPr>
          <p:nvPr/>
        </p:nvSpPr>
        <p:spPr>
          <a:xfrm>
            <a:off x="8096250" y="20955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COMMISSIONING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971C80-8210-4EBA-8D2A-D5071436CE56}"/>
              </a:ext>
            </a:extLst>
          </p:cNvPr>
          <p:cNvSpPr>
            <a:spLocks noGrp="1"/>
          </p:cNvSpPr>
          <p:nvPr/>
        </p:nvSpPr>
        <p:spPr>
          <a:xfrm>
            <a:off x="8096250" y="2552700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Planned with gates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100F6AA-3FA8-4ED0-9A38-0B2378E343B6}"/>
              </a:ext>
            </a:extLst>
          </p:cNvPr>
          <p:cNvSpPr>
            <a:spLocks noGrp="1"/>
          </p:cNvSpPr>
          <p:nvPr/>
        </p:nvSpPr>
        <p:spPr>
          <a:xfrm>
            <a:off x="8096250" y="3333750"/>
            <a:ext cx="2857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Named bench tests define force calibration, lift-home repeatability, M5 clearance, and interchangeable-tool checks.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0D47CBC-A03B-4F67-9CD5-A565309EF5D6}"/>
              </a:ext>
            </a:extLst>
          </p:cNvPr>
          <p:cNvSpPr>
            <a:spLocks noGrp="1"/>
          </p:cNvSpPr>
          <p:nvPr/>
        </p:nvSpPr>
        <p:spPr>
          <a:xfrm>
            <a:off x="400050" y="5372100"/>
            <a:ext cx="1038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Key point: progress is being documented as measured, test-gated behavior rather than assumed capability.</a:t>
            </a:r>
          </a:p>
        </p:txBody>
      </p:sp>
    </p:spTree>
    <p:extLst>
      <p:ext uri="{BB962C8B-B14F-4D97-AF65-F5344CB8AC3E}">
        <p14:creationId xmlns:p14="http://schemas.microsoft.com/office/powerpoint/2010/main" val="555851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6F0626F8-8965-48B5-9D86-0101BF110120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HIGH-LEVEL ARCHITECTURE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9B7B11B-9769-49D6-9CD1-D9B1E38689B4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Printing separates coordinated motion from local force control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2C0756-4365-4B6C-8473-70A1EA522BF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25569D-CA4A-4AE7-A04F-0542C3B07E8C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99396C-5F6C-40B1-8BEB-0D7A25932070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A1B4A7E-ACD7-4B4B-8402-B1AA1C137F52}"/>
              </a:ext>
            </a:extLst>
          </p:cNvPr>
          <p:cNvSpPr>
            <a:spLocks noGrp="1"/>
          </p:cNvSpPr>
          <p:nvPr/>
        </p:nvSpPr>
        <p:spPr>
          <a:xfrm>
            <a:off x="400050" y="2476500"/>
            <a:ext cx="1809750" cy="1619250"/>
          </a:xfrm>
          <a:prstGeom prst="roundRect">
            <a:avLst>
              <a:gd name="adj" fmla="val 4706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5437B8-B8D6-4983-9B9E-AB696ABFDC02}"/>
              </a:ext>
            </a:extLst>
          </p:cNvPr>
          <p:cNvSpPr>
            <a:spLocks noGrp="1"/>
          </p:cNvSpPr>
          <p:nvPr/>
        </p:nvSpPr>
        <p:spPr>
          <a:xfrm>
            <a:off x="571500" y="2724150"/>
            <a:ext cx="1466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Host PC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821233-6A88-472F-B2AE-BDEBAFDE1D8A}"/>
              </a:ext>
            </a:extLst>
          </p:cNvPr>
          <p:cNvSpPr>
            <a:spLocks noGrp="1"/>
          </p:cNvSpPr>
          <p:nvPr/>
        </p:nvSpPr>
        <p:spPr>
          <a:xfrm>
            <a:off x="571500" y="3219450"/>
            <a:ext cx="14668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SVG → G-code</a:t>
            </a:r>
          </a:p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ioSender streams commands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DC343F9-CB34-4C4D-B5DE-9B84F0CB8A36}"/>
              </a:ext>
            </a:extLst>
          </p:cNvPr>
          <p:cNvSpPr>
            <a:spLocks noGrp="1"/>
          </p:cNvSpPr>
          <p:nvPr/>
        </p:nvSpPr>
        <p:spPr>
          <a:xfrm>
            <a:off x="3333750" y="2476500"/>
            <a:ext cx="3048000" cy="1619250"/>
          </a:xfrm>
          <a:prstGeom prst="roundRect">
            <a:avLst>
              <a:gd name="adj" fmla="val 4706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F0A1C01-5A3A-4DA2-B229-D5C0D8D351D0}"/>
              </a:ext>
            </a:extLst>
          </p:cNvPr>
          <p:cNvSpPr>
            <a:spLocks noGrp="1"/>
          </p:cNvSpPr>
          <p:nvPr/>
        </p:nvSpPr>
        <p:spPr>
          <a:xfrm>
            <a:off x="3505200" y="2724150"/>
            <a:ext cx="2705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RP23CNC / grblHAL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747168D-9C5E-452B-862F-4336A0207C3D}"/>
              </a:ext>
            </a:extLst>
          </p:cNvPr>
          <p:cNvSpPr>
            <a:spLocks noGrp="1"/>
          </p:cNvSpPr>
          <p:nvPr/>
        </p:nvSpPr>
        <p:spPr>
          <a:xfrm>
            <a:off x="3505200" y="3219450"/>
            <a:ext cx="27051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Plans X/Y/A motion</a:t>
            </a:r>
          </a:p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Homing and P100 registration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50D4362-79BE-4DC4-B207-C7E4ACEE1A94}"/>
              </a:ext>
            </a:extLst>
          </p:cNvPr>
          <p:cNvSpPr>
            <a:spLocks noGrp="1"/>
          </p:cNvSpPr>
          <p:nvPr/>
        </p:nvSpPr>
        <p:spPr>
          <a:xfrm>
            <a:off x="7086600" y="2476500"/>
            <a:ext cx="1809750" cy="1619250"/>
          </a:xfrm>
          <a:prstGeom prst="roundRect">
            <a:avLst>
              <a:gd name="adj" fmla="val 4706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883649-D0D2-4D45-B3D8-7F2F0C347451}"/>
              </a:ext>
            </a:extLst>
          </p:cNvPr>
          <p:cNvSpPr>
            <a:spLocks noGrp="1"/>
          </p:cNvSpPr>
          <p:nvPr/>
        </p:nvSpPr>
        <p:spPr>
          <a:xfrm>
            <a:off x="7258050" y="2724150"/>
            <a:ext cx="1466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45"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Toolhead Pro Micro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82C0425-029F-4BE4-8EEC-27C5029797AA}"/>
              </a:ext>
            </a:extLst>
          </p:cNvPr>
          <p:cNvSpPr>
            <a:spLocks noGrp="1"/>
          </p:cNvSpPr>
          <p:nvPr/>
        </p:nvSpPr>
        <p:spPr>
          <a:xfrm>
            <a:off x="7258050" y="3219450"/>
            <a:ext cx="14668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Reads load cell</a:t>
            </a:r>
          </a:p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Controls N20 and safety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A488552-1970-4C79-BCB9-94F2A2724B58}"/>
              </a:ext>
            </a:extLst>
          </p:cNvPr>
          <p:cNvSpPr>
            <a:spLocks noGrp="1"/>
          </p:cNvSpPr>
          <p:nvPr/>
        </p:nvSpPr>
        <p:spPr>
          <a:xfrm>
            <a:off x="10001250" y="2476500"/>
            <a:ext cx="1809750" cy="1619250"/>
          </a:xfrm>
          <a:prstGeom prst="roundRect">
            <a:avLst>
              <a:gd name="adj" fmla="val 4706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E79CC2-72F4-4519-BF40-356F0833B82C}"/>
              </a:ext>
            </a:extLst>
          </p:cNvPr>
          <p:cNvSpPr>
            <a:spLocks noGrp="1"/>
          </p:cNvSpPr>
          <p:nvPr/>
        </p:nvSpPr>
        <p:spPr>
          <a:xfrm>
            <a:off x="10172700" y="2724150"/>
            <a:ext cx="1466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Pen + paper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7FE630-5988-405B-9B72-12C8BCB7233E}"/>
              </a:ext>
            </a:extLst>
          </p:cNvPr>
          <p:cNvSpPr>
            <a:spLocks noGrp="1"/>
          </p:cNvSpPr>
          <p:nvPr/>
        </p:nvSpPr>
        <p:spPr>
          <a:xfrm>
            <a:off x="10172700" y="3219450"/>
            <a:ext cx="14668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Writing force</a:t>
            </a:r>
          </a:p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creates the mark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82F4AA5-48B0-424F-947B-4A3F28F2125D}"/>
              </a:ext>
            </a:extLst>
          </p:cNvPr>
          <p:cNvSpPr>
            <a:spLocks noGrp="1"/>
          </p:cNvSpPr>
          <p:nvPr/>
        </p:nvSpPr>
        <p:spPr>
          <a:xfrm>
            <a:off x="2209800" y="3067050"/>
            <a:ext cx="876300" cy="28575"/>
          </a:xfrm>
          <a:prstGeom prst="rect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2ADFD08-C19E-4DD4-B440-0EDCCE5E0062}"/>
              </a:ext>
            </a:extLst>
          </p:cNvPr>
          <p:cNvSpPr>
            <a:spLocks noGrp="1"/>
          </p:cNvSpPr>
          <p:nvPr/>
        </p:nvSpPr>
        <p:spPr>
          <a:xfrm>
            <a:off x="3105150" y="2933700"/>
            <a:ext cx="209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07C9902-9EF6-4D94-A63E-0354F7020934}"/>
              </a:ext>
            </a:extLst>
          </p:cNvPr>
          <p:cNvSpPr>
            <a:spLocks noGrp="1"/>
          </p:cNvSpPr>
          <p:nvPr/>
        </p:nvSpPr>
        <p:spPr>
          <a:xfrm>
            <a:off x="2133600" y="2667000"/>
            <a:ext cx="1066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G-code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E227CC2-7CF7-470A-978E-62CD81BF66E3}"/>
              </a:ext>
            </a:extLst>
          </p:cNvPr>
          <p:cNvSpPr>
            <a:spLocks noGrp="1"/>
          </p:cNvSpPr>
          <p:nvPr/>
        </p:nvSpPr>
        <p:spPr>
          <a:xfrm>
            <a:off x="6515100" y="3067050"/>
            <a:ext cx="381000" cy="28575"/>
          </a:xfrm>
          <a:prstGeom prst="rect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B1625C7-F60D-4DBE-9478-34A2FA926DBF}"/>
              </a:ext>
            </a:extLst>
          </p:cNvPr>
          <p:cNvSpPr>
            <a:spLocks noGrp="1"/>
          </p:cNvSpPr>
          <p:nvPr/>
        </p:nvSpPr>
        <p:spPr>
          <a:xfrm>
            <a:off x="6915150" y="2933700"/>
            <a:ext cx="209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516AF1-5276-4496-9781-D96179E8828E}"/>
              </a:ext>
            </a:extLst>
          </p:cNvPr>
          <p:cNvSpPr>
            <a:spLocks noGrp="1"/>
          </p:cNvSpPr>
          <p:nvPr/>
        </p:nvSpPr>
        <p:spPr>
          <a:xfrm>
            <a:off x="6438900" y="2667000"/>
            <a:ext cx="57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M3 / M5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B0E7C54-3185-42B7-915D-99B59E0D99B6}"/>
              </a:ext>
            </a:extLst>
          </p:cNvPr>
          <p:cNvSpPr>
            <a:spLocks noGrp="1"/>
          </p:cNvSpPr>
          <p:nvPr/>
        </p:nvSpPr>
        <p:spPr>
          <a:xfrm>
            <a:off x="9067800" y="3067050"/>
            <a:ext cx="876300" cy="28575"/>
          </a:xfrm>
          <a:prstGeom prst="rect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79895A4-BAFC-4E3D-9428-DDF97F096842}"/>
              </a:ext>
            </a:extLst>
          </p:cNvPr>
          <p:cNvSpPr>
            <a:spLocks noGrp="1"/>
          </p:cNvSpPr>
          <p:nvPr/>
        </p:nvSpPr>
        <p:spPr>
          <a:xfrm>
            <a:off x="9963150" y="2933700"/>
            <a:ext cx="209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DD025EA-6AE9-4730-B305-1154FF5EA65D}"/>
              </a:ext>
            </a:extLst>
          </p:cNvPr>
          <p:cNvSpPr>
            <a:spLocks noGrp="1"/>
          </p:cNvSpPr>
          <p:nvPr/>
        </p:nvSpPr>
        <p:spPr>
          <a:xfrm>
            <a:off x="8991600" y="2667000"/>
            <a:ext cx="1066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force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B0D567-13C3-4904-8E80-3E47221EA51D}"/>
              </a:ext>
            </a:extLst>
          </p:cNvPr>
          <p:cNvSpPr>
            <a:spLocks noGrp="1"/>
          </p:cNvSpPr>
          <p:nvPr/>
        </p:nvSpPr>
        <p:spPr>
          <a:xfrm>
            <a:off x="8001000" y="4476750"/>
            <a:ext cx="28575" cy="742950"/>
          </a:xfrm>
          <a:prstGeom prst="rect">
            <a:avLst/>
          </a:prstGeom>
          <a:solidFill>
            <a:srgbClr val="23865B"/>
          </a:solidFill>
          <a:ln w="0">
            <a:solidFill>
              <a:srgbClr val="2386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7EE0DE2-2193-4F59-8C27-772C482F9DA0}"/>
              </a:ext>
            </a:extLst>
          </p:cNvPr>
          <p:cNvSpPr>
            <a:spLocks noGrp="1"/>
          </p:cNvSpPr>
          <p:nvPr/>
        </p:nvSpPr>
        <p:spPr>
          <a:xfrm>
            <a:off x="8001000" y="5200650"/>
            <a:ext cx="3714750" cy="28575"/>
          </a:xfrm>
          <a:prstGeom prst="rect">
            <a:avLst/>
          </a:prstGeom>
          <a:solidFill>
            <a:srgbClr val="23865B"/>
          </a:solidFill>
          <a:ln w="0">
            <a:solidFill>
              <a:srgbClr val="2386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ED95B8F-F380-4014-977C-009F93F59EFB}"/>
              </a:ext>
            </a:extLst>
          </p:cNvPr>
          <p:cNvSpPr>
            <a:spLocks noGrp="1"/>
          </p:cNvSpPr>
          <p:nvPr/>
        </p:nvSpPr>
        <p:spPr>
          <a:xfrm>
            <a:off x="3676650" y="5372100"/>
            <a:ext cx="723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760"/>
          </a:bodyPr>
          <a:lstStyle/>
          <a:p>
            <a:pPr algn="ctr">
              <a:defRPr sz="1575" b="1">
                <a:solidFill>
                  <a:srgbClr val="238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23865B"/>
                </a:solidFill>
                <a:latin typeface="Helvetica Neue"/>
                <a:ea typeface="Helvetica Neue"/>
                <a:cs typeface="Helvetica Neue"/>
              </a:rPr>
              <a:t>Load-cell feedback stays local to the toolhead; it does not burden the motion controller.</a:t>
            </a:r>
          </a:p>
        </p:txBody>
      </p:sp>
    </p:spTree>
    <p:extLst>
      <p:ext uri="{BB962C8B-B14F-4D97-AF65-F5344CB8AC3E}">
        <p14:creationId xmlns:p14="http://schemas.microsoft.com/office/powerpoint/2010/main" val="229287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F62304FE-8F32-4772-95F3-8619A29DB5F9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HOW THE MACHINE HOMES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D7685C0-0485-4145-8C2C-48BB71D7F293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443"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Homing establishes two different references: machine position and toolhead safety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1C4DFF-8E93-4A18-9910-BACD783CBEB1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349F42-8FEE-4214-8937-62B60507CA1F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31A5DE-132C-4C01-9404-0EF52E0568F2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9DF9717-2CB1-4CF6-B7BB-9A6DCF104766}"/>
              </a:ext>
            </a:extLst>
          </p:cNvPr>
          <p:cNvSpPr>
            <a:spLocks noGrp="1"/>
          </p:cNvSpPr>
          <p:nvPr/>
        </p:nvSpPr>
        <p:spPr>
          <a:xfrm>
            <a:off x="40005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240346-C6D3-43B8-B8D8-02816F4A6539}"/>
              </a:ext>
            </a:extLst>
          </p:cNvPr>
          <p:cNvSpPr>
            <a:spLocks noGrp="1"/>
          </p:cNvSpPr>
          <p:nvPr/>
        </p:nvSpPr>
        <p:spPr>
          <a:xfrm>
            <a:off x="59055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5E72E1-0B42-4078-AD66-7D955CA4BACD}"/>
              </a:ext>
            </a:extLst>
          </p:cNvPr>
          <p:cNvSpPr>
            <a:spLocks noGrp="1"/>
          </p:cNvSpPr>
          <p:nvPr/>
        </p:nvSpPr>
        <p:spPr>
          <a:xfrm>
            <a:off x="59055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P100 requests toolhead home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DB266B-E58E-4FEC-AED4-C8DCB7452B96}"/>
              </a:ext>
            </a:extLst>
          </p:cNvPr>
          <p:cNvSpPr>
            <a:spLocks noGrp="1"/>
          </p:cNvSpPr>
          <p:nvPr/>
        </p:nvSpPr>
        <p:spPr>
          <a:xfrm>
            <a:off x="59055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RP23CNC sends the existing GP28 request.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80339C-413C-465A-A28C-4EAB577535AB}"/>
              </a:ext>
            </a:extLst>
          </p:cNvPr>
          <p:cNvSpPr>
            <a:spLocks noGrp="1"/>
          </p:cNvSpPr>
          <p:nvPr/>
        </p:nvSpPr>
        <p:spPr>
          <a:xfrm>
            <a:off x="2390775" y="3057525"/>
            <a:ext cx="24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EDB9C1A-BFD5-4115-8348-68D6F324BDF9}"/>
              </a:ext>
            </a:extLst>
          </p:cNvPr>
          <p:cNvSpPr>
            <a:spLocks noGrp="1"/>
          </p:cNvSpPr>
          <p:nvPr/>
        </p:nvSpPr>
        <p:spPr>
          <a:xfrm>
            <a:off x="266700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88250A-7295-4A91-A91D-8F397D11EEFD}"/>
              </a:ext>
            </a:extLst>
          </p:cNvPr>
          <p:cNvSpPr>
            <a:spLocks noGrp="1"/>
          </p:cNvSpPr>
          <p:nvPr/>
        </p:nvSpPr>
        <p:spPr>
          <a:xfrm>
            <a:off x="285750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3F64C0-B836-48DF-932E-FE970397D325}"/>
              </a:ext>
            </a:extLst>
          </p:cNvPr>
          <p:cNvSpPr>
            <a:spLocks noGrp="1"/>
          </p:cNvSpPr>
          <p:nvPr/>
        </p:nvSpPr>
        <p:spPr>
          <a:xfrm>
            <a:off x="285750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 Micro verifies GP2 switch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8D26CB-876E-4885-B3E4-D9F2885E9A23}"/>
              </a:ext>
            </a:extLst>
          </p:cNvPr>
          <p:cNvSpPr>
            <a:spLocks noGrp="1"/>
          </p:cNvSpPr>
          <p:nvPr/>
        </p:nvSpPr>
        <p:spPr>
          <a:xfrm>
            <a:off x="285750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N20 retracts; the upper switch defines LIFT_HOME.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AD071A-3445-4827-B7E0-542EA5C14503}"/>
              </a:ext>
            </a:extLst>
          </p:cNvPr>
          <p:cNvSpPr>
            <a:spLocks noGrp="1"/>
          </p:cNvSpPr>
          <p:nvPr/>
        </p:nvSpPr>
        <p:spPr>
          <a:xfrm>
            <a:off x="4657725" y="3057525"/>
            <a:ext cx="24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30357E7-35F5-4735-AC3B-0D52BCA51523}"/>
              </a:ext>
            </a:extLst>
          </p:cNvPr>
          <p:cNvSpPr>
            <a:spLocks noGrp="1"/>
          </p:cNvSpPr>
          <p:nvPr/>
        </p:nvSpPr>
        <p:spPr>
          <a:xfrm>
            <a:off x="493395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A6E7461-5D7C-4460-92F0-E0F20009A801}"/>
              </a:ext>
            </a:extLst>
          </p:cNvPr>
          <p:cNvSpPr>
            <a:spLocks noGrp="1"/>
          </p:cNvSpPr>
          <p:nvPr/>
        </p:nvSpPr>
        <p:spPr>
          <a:xfrm>
            <a:off x="512445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F225601-4ADE-4DAC-ADDA-C6A954CF3AEA}"/>
              </a:ext>
            </a:extLst>
          </p:cNvPr>
          <p:cNvSpPr>
            <a:spLocks noGrp="1"/>
          </p:cNvSpPr>
          <p:nvPr/>
        </p:nvSpPr>
        <p:spPr>
          <a:xfrm>
            <a:off x="512445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Toolhead replies “ready”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987FE05-9D36-421A-B6C2-FA2A9E28691A}"/>
              </a:ext>
            </a:extLst>
          </p:cNvPr>
          <p:cNvSpPr>
            <a:spLocks noGrp="1"/>
          </p:cNvSpPr>
          <p:nvPr/>
        </p:nvSpPr>
        <p:spPr>
          <a:xfrm>
            <a:off x="512445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Existing GP27 signals success; a timeout becomes a fault.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A2D407-3A90-45E7-8201-FA3CC3A049C3}"/>
              </a:ext>
            </a:extLst>
          </p:cNvPr>
          <p:cNvSpPr>
            <a:spLocks noGrp="1"/>
          </p:cNvSpPr>
          <p:nvPr/>
        </p:nvSpPr>
        <p:spPr>
          <a:xfrm>
            <a:off x="6924675" y="3057525"/>
            <a:ext cx="24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C3299FD-E308-4785-96C4-5930CDCEF2F2}"/>
              </a:ext>
            </a:extLst>
          </p:cNvPr>
          <p:cNvSpPr>
            <a:spLocks noGrp="1"/>
          </p:cNvSpPr>
          <p:nvPr/>
        </p:nvSpPr>
        <p:spPr>
          <a:xfrm>
            <a:off x="720090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302F5F3-25AB-4610-84D0-8993B5EC9745}"/>
              </a:ext>
            </a:extLst>
          </p:cNvPr>
          <p:cNvSpPr>
            <a:spLocks noGrp="1"/>
          </p:cNvSpPr>
          <p:nvPr/>
        </p:nvSpPr>
        <p:spPr>
          <a:xfrm>
            <a:off x="739140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2F0F9C8-0841-4646-A9A1-82CEF9A226C7}"/>
              </a:ext>
            </a:extLst>
          </p:cNvPr>
          <p:cNvSpPr>
            <a:spLocks noGrp="1"/>
          </p:cNvSpPr>
          <p:nvPr/>
        </p:nvSpPr>
        <p:spPr>
          <a:xfrm>
            <a:off x="739140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RP23CNC homes X/Y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526FF82-5772-462D-A938-CCB197698E51}"/>
              </a:ext>
            </a:extLst>
          </p:cNvPr>
          <p:cNvSpPr>
            <a:spLocks noGrp="1"/>
          </p:cNvSpPr>
          <p:nvPr/>
        </p:nvSpPr>
        <p:spPr>
          <a:xfrm>
            <a:off x="739140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Physical axis switches establish gantry coordinates.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B102928-2AD5-45F8-9007-1EE97A046A27}"/>
              </a:ext>
            </a:extLst>
          </p:cNvPr>
          <p:cNvSpPr>
            <a:spLocks noGrp="1"/>
          </p:cNvSpPr>
          <p:nvPr/>
        </p:nvSpPr>
        <p:spPr>
          <a:xfrm>
            <a:off x="9191625" y="3057525"/>
            <a:ext cx="24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BC17A11-E073-49FA-9FD7-611588801019}"/>
              </a:ext>
            </a:extLst>
          </p:cNvPr>
          <p:cNvSpPr>
            <a:spLocks noGrp="1"/>
          </p:cNvSpPr>
          <p:nvPr/>
        </p:nvSpPr>
        <p:spPr>
          <a:xfrm>
            <a:off x="946785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2610C8-F5CA-4D3B-8BB2-DDCA99429F1B}"/>
              </a:ext>
            </a:extLst>
          </p:cNvPr>
          <p:cNvSpPr>
            <a:spLocks noGrp="1"/>
          </p:cNvSpPr>
          <p:nvPr/>
        </p:nvSpPr>
        <p:spPr>
          <a:xfrm>
            <a:off x="965835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FFB761-26BD-4AAA-BE70-2CAC8F99DF05}"/>
              </a:ext>
            </a:extLst>
          </p:cNvPr>
          <p:cNvSpPr>
            <a:spLocks noGrp="1"/>
          </p:cNvSpPr>
          <p:nvPr/>
        </p:nvSpPr>
        <p:spPr>
          <a:xfrm>
            <a:off x="965835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Magnetic scan registers G54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AA9AE5D-2A21-43EA-8061-0C5E31006C5B}"/>
              </a:ext>
            </a:extLst>
          </p:cNvPr>
          <p:cNvSpPr>
            <a:spLocks noGrp="1"/>
          </p:cNvSpPr>
          <p:nvPr/>
        </p:nvSpPr>
        <p:spPr>
          <a:xfrm>
            <a:off x="965835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Center magnet sets X/Y zero; outer magnet sets A zero.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092802A-ED6E-4147-8DF0-3901FAE442E5}"/>
              </a:ext>
            </a:extLst>
          </p:cNvPr>
          <p:cNvSpPr>
            <a:spLocks noGrp="1"/>
          </p:cNvSpPr>
          <p:nvPr/>
        </p:nvSpPr>
        <p:spPr>
          <a:xfrm>
            <a:off x="400050" y="5219700"/>
            <a:ext cx="10763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GP2 switch remains local to the Pro Micro; the existing GP28/GP27 pair lets P100 receive the result without another RP23CNC pin.</a:t>
            </a:r>
          </a:p>
        </p:txBody>
      </p:sp>
    </p:spTree>
    <p:extLst>
      <p:ext uri="{BB962C8B-B14F-4D97-AF65-F5344CB8AC3E}">
        <p14:creationId xmlns:p14="http://schemas.microsoft.com/office/powerpoint/2010/main" val="1592565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51C760A9-4B49-6A73-4C9A-1FCCFECA19FE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2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02966AAC-CE77-345B-9685-363AC942F206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DC8809AD-6888-E8B1-1600-967D24442E7A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C92CA85D-B428-37AF-CF04-5E9E5D31441F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5F9A2FFD-6D3C-230B-74BD-15184D2DF4DC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5EAFDB48-C279-C4A0-6D7C-C12FC3B04D19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</p:spTree>
    <p:extLst>
      <p:ext uri="{BB962C8B-B14F-4D97-AF65-F5344CB8AC3E}">
        <p14:creationId xmlns:p14="http://schemas.microsoft.com/office/powerpoint/2010/main" val="1510545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1"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1 Highlight">
            <a:extLst>
              <a:ext uri="{FF2B5EF4-FFF2-40B4-BE49-F238E27FC236}">
                <a16:creationId xmlns:a16="http://schemas.microsoft.com/office/drawing/2014/main" id="{6A36448E-C653-4D8E-0806-2D059D88EE85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32C2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247DC19F-CC0E-3DBD-AAFE-5BFC1F4C765F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CCD6C85B-BC61-1159-A9EB-4DEE90BE5A82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DD9F42D5-7100-B65D-B3A2-9FC45CCA3778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18B61BF8-E517-5508-FEBA-A73673F0BD60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8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D99E561C-28CC-633F-4985-D2725AA35AFE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9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68401CD9-C7D3-3F82-3702-682FA40087B9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5CEF202E-B754-A271-22D6-351167702F2F}"/>
              </a:ext>
            </a:extLst>
          </p:cNvPr>
          <p:cNvSpPr/>
          <p:nvPr/>
        </p:nvSpPr>
        <p:spPr>
          <a:xfrm>
            <a:off x="5703683" y="1670364"/>
            <a:ext cx="3078178" cy="2245259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AD756550-ED54-A3C6-39A3-0CF332046ED4}"/>
              </a:ext>
            </a:extLst>
          </p:cNvPr>
          <p:cNvSpPr txBox="1"/>
          <p:nvPr/>
        </p:nvSpPr>
        <p:spPr>
          <a:xfrm>
            <a:off x="5866645" y="1833327"/>
            <a:ext cx="2752254" cy="164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69" b="1">
                <a:solidFill>
                  <a:srgbClr val="FFCC66"/>
                </a:solidFill>
                <a:latin typeface="Aptos" panose="020B0004020202020204" pitchFamily="34" charset="0"/>
              </a:rPr>
              <a:t>1. Start command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8B807CB2-EC82-3A18-09AF-01ADA23DEF0C}"/>
              </a:ext>
            </a:extLst>
          </p:cNvPr>
          <p:cNvSpPr txBox="1"/>
          <p:nvPr/>
        </p:nvSpPr>
        <p:spPr>
          <a:xfrm>
            <a:off x="5866645" y="2123037"/>
            <a:ext cx="2752254" cy="126377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12">
                <a:solidFill>
                  <a:srgbClr val="F7F4F0"/>
                </a:solidFill>
                <a:latin typeface="Aptos" panose="020B0004020202020204" pitchFamily="34" charset="0"/>
              </a:rPr>
              <a:t>Command
ioSender → RP23CNC: G65 P100 Q0
Decision owner
RP23CNC / grblHAL starts P100 locally.
Not moved
HX711 force samples stay inside the Pro Micro toolhead.</a:t>
            </a:r>
          </a:p>
        </p:txBody>
      </p:sp>
      <p:sp>
        <p:nvSpPr>
          <p:cNvPr id="7" name="P100 Back Button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279E1C06-C5FC-7771-BB9B-D9DA1CB5D1C4}"/>
              </a:ext>
            </a:extLst>
          </p:cNvPr>
          <p:cNvSpPr/>
          <p:nvPr/>
        </p:nvSpPr>
        <p:spPr>
          <a:xfrm>
            <a:off x="10058400" y="6172200"/>
            <a:ext cx="1714500" cy="30480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FFA5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>
                <a:solidFill>
                  <a:srgbClr val="FFA533"/>
                </a:solidFill>
                <a:latin typeface="Aptos" panose="020B0004020202020204" pitchFamily="34" charset="0"/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2118475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2"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2 Highlight">
            <a:extLst>
              <a:ext uri="{FF2B5EF4-FFF2-40B4-BE49-F238E27FC236}">
                <a16:creationId xmlns:a16="http://schemas.microsoft.com/office/drawing/2014/main" id="{20F7847D-8C3F-85E8-5D10-102892423AFE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32C2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FB3E871B-5449-B11D-191B-9BCE52C1BC26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69B28F5D-9DBA-B653-FEC4-93D4B11BBA08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A64CB45D-EBD0-3491-7A52-C2392361F9C3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03E1BE0F-05DC-6A92-6ABD-AEDDCFD725BD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8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13BEC0F0-DC05-D29D-C036-21F0ED96E4B0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9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68E6EFC2-E3EF-CFBF-6F39-43890952236E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DB4135CC-F384-E5B7-5CBA-F519475E9B21}"/>
              </a:ext>
            </a:extLst>
          </p:cNvPr>
          <p:cNvSpPr/>
          <p:nvPr/>
        </p:nvSpPr>
        <p:spPr>
          <a:xfrm>
            <a:off x="5703683" y="1670364"/>
            <a:ext cx="3078178" cy="2245259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8344B0EB-E729-240C-B272-5DC27A7A0657}"/>
              </a:ext>
            </a:extLst>
          </p:cNvPr>
          <p:cNvSpPr txBox="1"/>
          <p:nvPr/>
        </p:nvSpPr>
        <p:spPr>
          <a:xfrm>
            <a:off x="5866645" y="1833327"/>
            <a:ext cx="2752254" cy="164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69" b="1">
                <a:solidFill>
                  <a:srgbClr val="FFCC66"/>
                </a:solidFill>
                <a:latin typeface="Aptos" panose="020B0004020202020204" pitchFamily="34" charset="0"/>
              </a:rPr>
              <a:t>2. Toolhead home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8382FCCD-CCED-A0F4-474A-19C33B23658D}"/>
              </a:ext>
            </a:extLst>
          </p:cNvPr>
          <p:cNvSpPr txBox="1"/>
          <p:nvPr/>
        </p:nvSpPr>
        <p:spPr>
          <a:xfrm>
            <a:off x="5866645" y="2123038"/>
            <a:ext cx="2752254" cy="11233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12">
                <a:solidFill>
                  <a:srgbClr val="F7F4F0"/>
                </a:solidFill>
                <a:latin typeface="Aptos" panose="020B0004020202020204" pitchFamily="34" charset="0"/>
              </a:rPr>
              <a:t>Request
P100 asserts GP28.
Pro Micro action
N20 retracts until GP2 confirms LIFT_HOME.
Reply
GP27 ready, or a timeout becomes a fault.</a:t>
            </a:r>
          </a:p>
        </p:txBody>
      </p:sp>
      <p:sp>
        <p:nvSpPr>
          <p:cNvPr id="7" name="P100 Back Button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7F1B5C27-86DD-3109-8218-5AB6604396E4}"/>
              </a:ext>
            </a:extLst>
          </p:cNvPr>
          <p:cNvSpPr/>
          <p:nvPr/>
        </p:nvSpPr>
        <p:spPr>
          <a:xfrm>
            <a:off x="10058400" y="6172200"/>
            <a:ext cx="1714500" cy="30480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FFA5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>
                <a:solidFill>
                  <a:srgbClr val="FFA533"/>
                </a:solidFill>
                <a:latin typeface="Aptos" panose="020B0004020202020204" pitchFamily="34" charset="0"/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243666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3"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3 Highlight">
            <a:extLst>
              <a:ext uri="{FF2B5EF4-FFF2-40B4-BE49-F238E27FC236}">
                <a16:creationId xmlns:a16="http://schemas.microsoft.com/office/drawing/2014/main" id="{91B94AE9-E461-66F7-FCC7-FA8CF8572F03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DCA86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41A311AC-FE52-4066-CD5F-63034FE44609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229D10D3-8782-98D3-CA79-9733E21A01F0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57602AAE-6504-FE90-5086-CDC50FBFD167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5739D453-CCF2-8895-2811-B3827B632E99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8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4F2F32F3-9AB2-7C13-1A3D-8F2AB8384548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9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3BD89E2F-BDDE-3193-2D38-2F39E5CB6867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F716E644-4D7F-57F9-C447-5F26B4D7EA2B}"/>
              </a:ext>
            </a:extLst>
          </p:cNvPr>
          <p:cNvSpPr/>
          <p:nvPr/>
        </p:nvSpPr>
        <p:spPr>
          <a:xfrm>
            <a:off x="5703683" y="1670364"/>
            <a:ext cx="3078178" cy="2245259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44103440-044D-FE0D-28C4-DF8B7A91468B}"/>
              </a:ext>
            </a:extLst>
          </p:cNvPr>
          <p:cNvSpPr txBox="1"/>
          <p:nvPr/>
        </p:nvSpPr>
        <p:spPr>
          <a:xfrm>
            <a:off x="5866645" y="1833327"/>
            <a:ext cx="2752254" cy="164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69" b="1">
                <a:solidFill>
                  <a:srgbClr val="FFCC66"/>
                </a:solidFill>
                <a:latin typeface="Aptos" panose="020B0004020202020204" pitchFamily="34" charset="0"/>
              </a:rPr>
              <a:t>3. Machine home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3B504EB3-11C8-5707-6204-5B06E0033E18}"/>
              </a:ext>
            </a:extLst>
          </p:cNvPr>
          <p:cNvSpPr txBox="1"/>
          <p:nvPr/>
        </p:nvSpPr>
        <p:spPr>
          <a:xfrm>
            <a:off x="5866645" y="2123038"/>
            <a:ext cx="2752254" cy="98293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12">
                <a:solidFill>
                  <a:srgbClr val="F7F4F0"/>
                </a:solidFill>
                <a:latin typeface="Aptos" panose="020B0004020202020204" pitchFamily="34" charset="0"/>
              </a:rPr>
              <a:t>Command
RP23CNC runs .
Result
Physical X/Y switches establish gantry coordinates.
Toolhead stays at LIFT_HOME.</a:t>
            </a:r>
          </a:p>
        </p:txBody>
      </p:sp>
      <p:sp>
        <p:nvSpPr>
          <p:cNvPr id="7" name="P100 Back Button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8CBA725B-6CE2-AB54-38CD-CB7E9BAC0533}"/>
              </a:ext>
            </a:extLst>
          </p:cNvPr>
          <p:cNvSpPr/>
          <p:nvPr/>
        </p:nvSpPr>
        <p:spPr>
          <a:xfrm>
            <a:off x="10058400" y="6172200"/>
            <a:ext cx="1714500" cy="30480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FFA5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>
                <a:solidFill>
                  <a:srgbClr val="FFA533"/>
                </a:solidFill>
                <a:latin typeface="Aptos" panose="020B0004020202020204" pitchFamily="34" charset="0"/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10487431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4"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4 Highlight">
            <a:extLst>
              <a:ext uri="{FF2B5EF4-FFF2-40B4-BE49-F238E27FC236}">
                <a16:creationId xmlns:a16="http://schemas.microsoft.com/office/drawing/2014/main" id="{117C52A5-B189-12A4-D958-BC9BBC3C3E95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7DC4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6239FFE8-1983-751C-FF74-4DAD5061664C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F6539B36-8038-6018-9D89-C18FCE14828A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10A44E18-05A7-8D3D-14D9-DBAA4BDD58D3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66EFFB9C-DAB1-BB22-6C35-9BFE282472EC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8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9F7A191D-127E-3976-D652-2AA8B41DBBD9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9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56C96F40-7BFA-4421-A10E-8F3E1257BA61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5F1B77DF-9D79-05EF-5F40-16D2A8667562}"/>
              </a:ext>
            </a:extLst>
          </p:cNvPr>
          <p:cNvSpPr/>
          <p:nvPr/>
        </p:nvSpPr>
        <p:spPr>
          <a:xfrm>
            <a:off x="5703683" y="1670364"/>
            <a:ext cx="3078178" cy="2245259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55434FDA-96C4-A8CC-98E6-504B3F8E5A5A}"/>
              </a:ext>
            </a:extLst>
          </p:cNvPr>
          <p:cNvSpPr txBox="1"/>
          <p:nvPr/>
        </p:nvSpPr>
        <p:spPr>
          <a:xfrm>
            <a:off x="5866645" y="1833327"/>
            <a:ext cx="2752254" cy="164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69" b="1">
                <a:solidFill>
                  <a:srgbClr val="FFCC66"/>
                </a:solidFill>
                <a:latin typeface="Aptos" panose="020B0004020202020204" pitchFamily="34" charset="0"/>
              </a:rPr>
              <a:t>4. Magnetic registration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156CB25D-77C0-DA0C-4FEB-87867AF2EDB9}"/>
              </a:ext>
            </a:extLst>
          </p:cNvPr>
          <p:cNvSpPr txBox="1"/>
          <p:nvPr/>
        </p:nvSpPr>
        <p:spPr>
          <a:xfrm>
            <a:off x="5866645" y="2123038"/>
            <a:ext cx="2752254" cy="84251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12">
                <a:solidFill>
                  <a:srgbClr val="F7F4F0"/>
                </a:solidFill>
                <a:latin typeface="Aptos" panose="020B0004020202020204" pitchFamily="34" charset="0"/>
              </a:rPr>
              <a:t>Request / reply
GP28 requests the scan; GP27 reports TMAG.
Result
Center magnet sets G54 X/Y zero.
Outer magnet sets A zero.</a:t>
            </a:r>
          </a:p>
        </p:txBody>
      </p:sp>
      <p:sp>
        <p:nvSpPr>
          <p:cNvPr id="7" name="P100 Back Button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86FD7CDA-8052-A1AD-18B3-88194A2EE39A}"/>
              </a:ext>
            </a:extLst>
          </p:cNvPr>
          <p:cNvSpPr/>
          <p:nvPr/>
        </p:nvSpPr>
        <p:spPr>
          <a:xfrm>
            <a:off x="10058400" y="6172200"/>
            <a:ext cx="1714500" cy="30480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FFA5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>
                <a:solidFill>
                  <a:srgbClr val="FFA533"/>
                </a:solidFill>
                <a:latin typeface="Aptos" panose="020B0004020202020204" pitchFamily="34" charset="0"/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21651036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5"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5 Highlight">
            <a:extLst>
              <a:ext uri="{FF2B5EF4-FFF2-40B4-BE49-F238E27FC236}">
                <a16:creationId xmlns:a16="http://schemas.microsoft.com/office/drawing/2014/main" id="{7F16F13E-E844-C3B3-8EDF-4735DE048CB9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32C2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7895C82C-98CE-0F30-1E8A-3268F7E34339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AE98F383-9A0E-B31D-98D9-113904BCB0AB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7BD3113B-C884-0799-BFAE-1057EBD0EA3F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E907B343-AF07-68E8-F5B5-30101A27197D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8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579E2DB0-94AB-7406-C44A-389EBAC7562D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9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156C76C4-903A-B573-DA1E-E62B0DA2A219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89FE897F-04BC-FA43-95EF-FD5AA8ADA80D}"/>
              </a:ext>
            </a:extLst>
          </p:cNvPr>
          <p:cNvSpPr/>
          <p:nvPr/>
        </p:nvSpPr>
        <p:spPr>
          <a:xfrm>
            <a:off x="5703683" y="1670364"/>
            <a:ext cx="3078178" cy="2245259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52103310-A1E3-00CA-D853-899611B9D158}"/>
              </a:ext>
            </a:extLst>
          </p:cNvPr>
          <p:cNvSpPr txBox="1"/>
          <p:nvPr/>
        </p:nvSpPr>
        <p:spPr>
          <a:xfrm>
            <a:off x="5866645" y="1833327"/>
            <a:ext cx="2752254" cy="164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69" b="1">
                <a:solidFill>
                  <a:srgbClr val="FFCC66"/>
                </a:solidFill>
                <a:latin typeface="Aptos" panose="020B0004020202020204" pitchFamily="34" charset="0"/>
              </a:rPr>
              <a:t>5. Per-run touch check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CA9E2D01-1BF7-F06A-80BF-59E1B3A5FA6D}"/>
              </a:ext>
            </a:extLst>
          </p:cNvPr>
          <p:cNvSpPr txBox="1"/>
          <p:nvPr/>
        </p:nvSpPr>
        <p:spPr>
          <a:xfrm>
            <a:off x="5866645" y="2123038"/>
            <a:ext cx="2752254" cy="11233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12">
                <a:solidFill>
                  <a:srgbClr val="F7F4F0"/>
                </a:solidFill>
                <a:latin typeface="Aptos" panose="020B0004020202020204" pitchFamily="34" charset="0"/>
              </a:rPr>
              <a:t>M3
Seek down to the load-cell contact threshold.
M5
Release, then make a bounded clearance pulse.
Abort
Fail to touch, release, or clear.</a:t>
            </a:r>
          </a:p>
        </p:txBody>
      </p:sp>
      <p:sp>
        <p:nvSpPr>
          <p:cNvPr id="7" name="P100 Back Button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35959FFA-F53B-CA42-A932-B1A9960B530B}"/>
              </a:ext>
            </a:extLst>
          </p:cNvPr>
          <p:cNvSpPr/>
          <p:nvPr/>
        </p:nvSpPr>
        <p:spPr>
          <a:xfrm>
            <a:off x="10058400" y="6172200"/>
            <a:ext cx="1714500" cy="30480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FFA5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>
                <a:solidFill>
                  <a:srgbClr val="FFA533"/>
                </a:solidFill>
                <a:latin typeface="Aptos" panose="020B0004020202020204" pitchFamily="34" charset="0"/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3118222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6"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6 Highlight">
            <a:extLst>
              <a:ext uri="{FF2B5EF4-FFF2-40B4-BE49-F238E27FC236}">
                <a16:creationId xmlns:a16="http://schemas.microsoft.com/office/drawing/2014/main" id="{99FA98AA-EAE2-6753-4166-5A747CE2F194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D6A7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224FCB21-0124-F8FC-9344-93F9F0588C5E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45F1FD27-CDC5-22DA-9824-F1CE42A9046F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0ED9ADA3-0220-89D3-F7E2-49C7E37AAC6C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D574CED1-A598-453D-7F70-1E9A5024B0A9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8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FE677328-B0F2-83E1-2AE2-ABA52B94DD58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9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4C4DA52B-092C-FEF2-6030-2E6DA7F83E7A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96A6C59A-8EFD-8E9A-98CA-807B25989EF4}"/>
              </a:ext>
            </a:extLst>
          </p:cNvPr>
          <p:cNvSpPr/>
          <p:nvPr/>
        </p:nvSpPr>
        <p:spPr>
          <a:xfrm>
            <a:off x="5703683" y="1670364"/>
            <a:ext cx="3078178" cy="2245259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79B1B7FA-F6B4-12FF-24AF-F35EF601677B}"/>
              </a:ext>
            </a:extLst>
          </p:cNvPr>
          <p:cNvSpPr txBox="1"/>
          <p:nvPr/>
        </p:nvSpPr>
        <p:spPr>
          <a:xfrm>
            <a:off x="5866645" y="1833327"/>
            <a:ext cx="2752254" cy="164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69" b="1">
                <a:solidFill>
                  <a:srgbClr val="FFCC66"/>
                </a:solidFill>
                <a:latin typeface="Aptos" panose="020B0004020202020204" pitchFamily="34" charset="0"/>
              </a:rPr>
              <a:t>6. Ready state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FC948654-D1C0-901A-42AD-B9C9346D71C8}"/>
              </a:ext>
            </a:extLst>
          </p:cNvPr>
          <p:cNvSpPr txBox="1"/>
          <p:nvPr/>
        </p:nvSpPr>
        <p:spPr>
          <a:xfrm>
            <a:off x="5866645" y="2123038"/>
            <a:ext cx="2752254" cy="98293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12">
                <a:solidFill>
                  <a:srgbClr val="F7F4F0"/>
                </a:solidFill>
                <a:latin typeface="Aptos" panose="020B0004020202020204" pitchFamily="34" charset="0"/>
              </a:rPr>
              <a:t>Ready
G54 registered; pen clear of paper.
Drawing
M3 writes. M5 releases and travels.
GP2 is not used for each lift.</a:t>
            </a:r>
          </a:p>
        </p:txBody>
      </p:sp>
      <p:sp>
        <p:nvSpPr>
          <p:cNvPr id="7" name="P100 Back Button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43817E0E-2D88-6DF8-F1C7-93B18E4DC589}"/>
              </a:ext>
            </a:extLst>
          </p:cNvPr>
          <p:cNvSpPr/>
          <p:nvPr/>
        </p:nvSpPr>
        <p:spPr>
          <a:xfrm>
            <a:off x="10058400" y="6172200"/>
            <a:ext cx="1714500" cy="30480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FFA5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>
                <a:solidFill>
                  <a:srgbClr val="FFA533"/>
                </a:solidFill>
                <a:latin typeface="Aptos" panose="020B0004020202020204" pitchFamily="34" charset="0"/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30312879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181F8B7-18C1-4C19-8204-9B8D54568C82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HOW THE MACHINE PRINTS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9D74CBB-2FDF-46A7-A047-48EF0BF396C3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print cycle uses force feedback to find paper and maintain pressure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D879BC-F633-4DA1-A485-E2C29792AE9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016B35-71BC-46CA-B04C-5134B4B561D3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BAEA44-20C9-488D-9B62-A4B1B1D3AC7C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9447F00-4038-42A6-A78F-E7C8B169F076}"/>
              </a:ext>
            </a:extLst>
          </p:cNvPr>
          <p:cNvSpPr>
            <a:spLocks noGrp="1"/>
          </p:cNvSpPr>
          <p:nvPr/>
        </p:nvSpPr>
        <p:spPr>
          <a:xfrm>
            <a:off x="495300" y="1857375"/>
            <a:ext cx="4857750" cy="3143250"/>
          </a:xfrm>
          <a:prstGeom prst="roundRect">
            <a:avLst>
              <a:gd name="adj" fmla="val 2424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0310CA-84F4-4DDC-B3A5-A5DE9FFEA2CA}"/>
              </a:ext>
            </a:extLst>
          </p:cNvPr>
          <p:cNvSpPr>
            <a:spLocks noGrp="1"/>
          </p:cNvSpPr>
          <p:nvPr/>
        </p:nvSpPr>
        <p:spPr>
          <a:xfrm>
            <a:off x="781050" y="2190750"/>
            <a:ext cx="4095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M3  •  engage and write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E13D9C-3903-40A3-A81C-9652B17D4275}"/>
              </a:ext>
            </a:extLst>
          </p:cNvPr>
          <p:cNvSpPr>
            <a:spLocks noGrp="1"/>
          </p:cNvSpPr>
          <p:nvPr/>
        </p:nvSpPr>
        <p:spPr>
          <a:xfrm>
            <a:off x="781050" y="2800350"/>
            <a:ext cx="3981450" cy="1676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N20 lowers the carriage slowly.</a:t>
            </a:r>
          </a:p>
          <a:p>
            <a:endParaRPr sz="150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Load cell crosses the contact threshold.</a:t>
            </a:r>
          </a:p>
          <a:p>
            <a:endParaRPr sz="150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Controller holds the selected writing force while X/Y/A move.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F397D9B-9706-4D97-8C0C-8EBB14890C39}"/>
              </a:ext>
            </a:extLst>
          </p:cNvPr>
          <p:cNvSpPr>
            <a:spLocks noGrp="1"/>
          </p:cNvSpPr>
          <p:nvPr/>
        </p:nvSpPr>
        <p:spPr>
          <a:xfrm>
            <a:off x="6838950" y="1857375"/>
            <a:ext cx="4857750" cy="3143250"/>
          </a:xfrm>
          <a:prstGeom prst="roundRect">
            <a:avLst>
              <a:gd name="adj" fmla="val 2424"/>
            </a:avLst>
          </a:prstGeom>
          <a:solidFill>
            <a:srgbClr val="FFF4E7"/>
          </a:solidFill>
          <a:ln w="9525">
            <a:solidFill>
              <a:srgbClr val="BE7C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76D4D3-209D-465A-9A74-C8AD44A9846A}"/>
              </a:ext>
            </a:extLst>
          </p:cNvPr>
          <p:cNvSpPr>
            <a:spLocks noGrp="1"/>
          </p:cNvSpPr>
          <p:nvPr/>
        </p:nvSpPr>
        <p:spPr>
          <a:xfrm>
            <a:off x="7124700" y="2190750"/>
            <a:ext cx="4095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M5  •  release and travel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289CC5-71E7-4162-B9FF-95458502AAC3}"/>
              </a:ext>
            </a:extLst>
          </p:cNvPr>
          <p:cNvSpPr>
            <a:spLocks noGrp="1"/>
          </p:cNvSpPr>
          <p:nvPr/>
        </p:nvSpPr>
        <p:spPr>
          <a:xfrm>
            <a:off x="7124700" y="2800350"/>
            <a:ext cx="3981450" cy="1676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N20 retracts until the load cell says the pen released.</a:t>
            </a:r>
          </a:p>
          <a:p>
            <a:endParaRPr sz="150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A bounded clearance pulse creates an air gap.</a:t>
            </a:r>
          </a:p>
          <a:p>
            <a:endParaRPr sz="150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The machine travels to the next mark without moving to the distant home switch.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1F1AB35-19EB-4325-9C47-4A797FA3118F}"/>
              </a:ext>
            </a:extLst>
          </p:cNvPr>
          <p:cNvSpPr>
            <a:spLocks noGrp="1"/>
          </p:cNvSpPr>
          <p:nvPr/>
        </p:nvSpPr>
        <p:spPr>
          <a:xfrm>
            <a:off x="1123950" y="5429250"/>
            <a:ext cx="990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spring provides compliance; the load cell determines pressing versus clear.</a:t>
            </a:r>
          </a:p>
        </p:txBody>
      </p:sp>
    </p:spTree>
    <p:extLst>
      <p:ext uri="{BB962C8B-B14F-4D97-AF65-F5344CB8AC3E}">
        <p14:creationId xmlns:p14="http://schemas.microsoft.com/office/powerpoint/2010/main" val="2151662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6F3120CE-A278-4DE4-AD80-D4DC1D123C15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NEXT STEPS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A6AE53-AD58-4E52-B393-414681A316C6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Next: measure, verify, then make a calibration drawing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9F2E39-8BF6-4B94-A2C5-D953FE5E8A25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0966DD7-3920-4FA6-A491-D7945580FBAC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F9E131-E1CF-420A-9F71-A52E237094F7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A44B7-ECD2-4982-853D-CBA0F6874ED8}"/>
              </a:ext>
            </a:extLst>
          </p:cNvPr>
          <p:cNvSpPr>
            <a:spLocks noGrp="1"/>
          </p:cNvSpPr>
          <p:nvPr/>
        </p:nvSpPr>
        <p:spPr>
          <a:xfrm>
            <a:off x="962025" y="203835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8CD63C9-FB5D-4CF9-B636-255C9D995C34}"/>
              </a:ext>
            </a:extLst>
          </p:cNvPr>
          <p:cNvSpPr>
            <a:spLocks noGrp="1"/>
          </p:cNvSpPr>
          <p:nvPr/>
        </p:nvSpPr>
        <p:spPr>
          <a:xfrm>
            <a:off x="400050" y="171450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2A3837-4B0C-4616-9BC9-FA376B966A92}"/>
              </a:ext>
            </a:extLst>
          </p:cNvPr>
          <p:cNvSpPr>
            <a:spLocks noGrp="1"/>
          </p:cNvSpPr>
          <p:nvPr/>
        </p:nvSpPr>
        <p:spPr>
          <a:xfrm>
            <a:off x="495300" y="188595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E-07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609BC2-063A-48B2-AD29-A914A2B36501}"/>
              </a:ext>
            </a:extLst>
          </p:cNvPr>
          <p:cNvSpPr>
            <a:spLocks noGrp="1"/>
          </p:cNvSpPr>
          <p:nvPr/>
        </p:nvSpPr>
        <p:spPr>
          <a:xfrm>
            <a:off x="1752600" y="175260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Calibrate load cell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918645-EE17-49CF-8D5F-2C0EF7C54067}"/>
              </a:ext>
            </a:extLst>
          </p:cNvPr>
          <p:cNvSpPr>
            <a:spLocks noGrp="1"/>
          </p:cNvSpPr>
          <p:nvPr/>
        </p:nvSpPr>
        <p:spPr>
          <a:xfrm>
            <a:off x="1752600" y="203835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Convert HX711 readings into reliable force units.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7F70C5-0635-4E9C-8C8E-0B6DCED6C29E}"/>
              </a:ext>
            </a:extLst>
          </p:cNvPr>
          <p:cNvSpPr>
            <a:spLocks noGrp="1"/>
          </p:cNvSpPr>
          <p:nvPr/>
        </p:nvSpPr>
        <p:spPr>
          <a:xfrm>
            <a:off x="962025" y="281940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3B52F5A-584B-4620-B432-56CF4204CEDA}"/>
              </a:ext>
            </a:extLst>
          </p:cNvPr>
          <p:cNvSpPr>
            <a:spLocks noGrp="1"/>
          </p:cNvSpPr>
          <p:nvPr/>
        </p:nvSpPr>
        <p:spPr>
          <a:xfrm>
            <a:off x="400050" y="249555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8BD5C5-55D1-4232-98F1-B8BE74E6A6EC}"/>
              </a:ext>
            </a:extLst>
          </p:cNvPr>
          <p:cNvSpPr>
            <a:spLocks noGrp="1"/>
          </p:cNvSpPr>
          <p:nvPr/>
        </p:nvSpPr>
        <p:spPr>
          <a:xfrm>
            <a:off x="495300" y="266700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T-01G/H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6DEB15B-1687-4046-936B-11D47DE10982}"/>
              </a:ext>
            </a:extLst>
          </p:cNvPr>
          <p:cNvSpPr>
            <a:spLocks noGrp="1"/>
          </p:cNvSpPr>
          <p:nvPr/>
        </p:nvSpPr>
        <p:spPr>
          <a:xfrm>
            <a:off x="1752600" y="253365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Verify lift and clear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84570F-8D3A-4CF1-A4AD-E7CBA58347BD}"/>
              </a:ext>
            </a:extLst>
          </p:cNvPr>
          <p:cNvSpPr>
            <a:spLocks noGrp="1"/>
          </p:cNvSpPr>
          <p:nvPr/>
        </p:nvSpPr>
        <p:spPr>
          <a:xfrm>
            <a:off x="1752600" y="281940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Prove GP2 homing and repeatable M5 release/clearance.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2CB085-06EA-4906-8EA2-08F426296908}"/>
              </a:ext>
            </a:extLst>
          </p:cNvPr>
          <p:cNvSpPr>
            <a:spLocks noGrp="1"/>
          </p:cNvSpPr>
          <p:nvPr/>
        </p:nvSpPr>
        <p:spPr>
          <a:xfrm>
            <a:off x="962025" y="360045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4723233-8F73-4590-A710-01004AEFC83E}"/>
              </a:ext>
            </a:extLst>
          </p:cNvPr>
          <p:cNvSpPr>
            <a:spLocks noGrp="1"/>
          </p:cNvSpPr>
          <p:nvPr/>
        </p:nvSpPr>
        <p:spPr>
          <a:xfrm>
            <a:off x="400050" y="327660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87C64A-6C3B-4BF0-9D56-8551C3949B16}"/>
              </a:ext>
            </a:extLst>
          </p:cNvPr>
          <p:cNvSpPr>
            <a:spLocks noGrp="1"/>
          </p:cNvSpPr>
          <p:nvPr/>
        </p:nvSpPr>
        <p:spPr>
          <a:xfrm>
            <a:off x="495300" y="344805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T-01J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B96B44-BF51-4D93-928C-72F06C8710B5}"/>
              </a:ext>
            </a:extLst>
          </p:cNvPr>
          <p:cNvSpPr>
            <a:spLocks noGrp="1"/>
          </p:cNvSpPr>
          <p:nvPr/>
        </p:nvSpPr>
        <p:spPr>
          <a:xfrm>
            <a:off x="1752600" y="331470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Check each writing tool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307825B-54AD-4503-AA9D-13F4FD50DE31}"/>
              </a:ext>
            </a:extLst>
          </p:cNvPr>
          <p:cNvSpPr>
            <a:spLocks noGrp="1"/>
          </p:cNvSpPr>
          <p:nvPr/>
        </p:nvSpPr>
        <p:spPr>
          <a:xfrm>
            <a:off x="1752600" y="360045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Touch and clear before every run; validate pens and pencils.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987ED91-503A-47EB-9E54-A9F24EF8A8F2}"/>
              </a:ext>
            </a:extLst>
          </p:cNvPr>
          <p:cNvSpPr>
            <a:spLocks noGrp="1"/>
          </p:cNvSpPr>
          <p:nvPr/>
        </p:nvSpPr>
        <p:spPr>
          <a:xfrm>
            <a:off x="962025" y="438150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DA9D67F-49F5-45CC-9586-5D8B58C87CF0}"/>
              </a:ext>
            </a:extLst>
          </p:cNvPr>
          <p:cNvSpPr>
            <a:spLocks noGrp="1"/>
          </p:cNvSpPr>
          <p:nvPr/>
        </p:nvSpPr>
        <p:spPr>
          <a:xfrm>
            <a:off x="400050" y="405765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2755A75-62DC-4F26-8921-5F7CE8AA4E07}"/>
              </a:ext>
            </a:extLst>
          </p:cNvPr>
          <p:cNvSpPr>
            <a:spLocks noGrp="1"/>
          </p:cNvSpPr>
          <p:nvPr/>
        </p:nvSpPr>
        <p:spPr>
          <a:xfrm>
            <a:off x="495300" y="422910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4653"/>
          </a:bodyPr>
          <a:lstStyle/>
          <a:p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F-05 / integration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E79AD77-810E-4670-8A2E-046B9C017EEB}"/>
              </a:ext>
            </a:extLst>
          </p:cNvPr>
          <p:cNvSpPr>
            <a:spLocks noGrp="1"/>
          </p:cNvSpPr>
          <p:nvPr/>
        </p:nvSpPr>
        <p:spPr>
          <a:xfrm>
            <a:off x="1752600" y="409575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Connect M3/M5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B3A93B3-A53C-4150-A3BD-AA1B6FFC1839}"/>
              </a:ext>
            </a:extLst>
          </p:cNvPr>
          <p:cNvSpPr>
            <a:spLocks noGrp="1"/>
          </p:cNvSpPr>
          <p:nvPr/>
        </p:nvSpPr>
        <p:spPr>
          <a:xfrm>
            <a:off x="1752600" y="438150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Verify the motion controller and toolhead work together.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B9CBB77-16D5-4B38-9BD4-F9DA9EAB7C80}"/>
              </a:ext>
            </a:extLst>
          </p:cNvPr>
          <p:cNvSpPr>
            <a:spLocks noGrp="1"/>
          </p:cNvSpPr>
          <p:nvPr/>
        </p:nvSpPr>
        <p:spPr>
          <a:xfrm>
            <a:off x="962025" y="516255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0926D51-8FAA-465C-AD4A-BDFF0EEC4AD2}"/>
              </a:ext>
            </a:extLst>
          </p:cNvPr>
          <p:cNvSpPr>
            <a:spLocks noGrp="1"/>
          </p:cNvSpPr>
          <p:nvPr/>
        </p:nvSpPr>
        <p:spPr>
          <a:xfrm>
            <a:off x="400050" y="483870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7F1D206-A7D4-4835-89BA-A526A1CA6003}"/>
              </a:ext>
            </a:extLst>
          </p:cNvPr>
          <p:cNvSpPr>
            <a:spLocks noGrp="1"/>
          </p:cNvSpPr>
          <p:nvPr/>
        </p:nvSpPr>
        <p:spPr>
          <a:xfrm>
            <a:off x="495300" y="501015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0185"/>
          </a:bodyPr>
          <a:lstStyle/>
          <a:p>
            <a:pPr algn="ctr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Calibration drawing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B7EDDD2-AF9C-4D26-B2E4-9CF086B88824}"/>
              </a:ext>
            </a:extLst>
          </p:cNvPr>
          <p:cNvSpPr>
            <a:spLocks noGrp="1"/>
          </p:cNvSpPr>
          <p:nvPr/>
        </p:nvSpPr>
        <p:spPr>
          <a:xfrm>
            <a:off x="1752600" y="487680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Demonstrate the system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1B2ACB4-5A14-494F-BAA1-E7B650B3CFBD}"/>
              </a:ext>
            </a:extLst>
          </p:cNvPr>
          <p:cNvSpPr>
            <a:spLocks noGrp="1"/>
          </p:cNvSpPr>
          <p:nvPr/>
        </p:nvSpPr>
        <p:spPr>
          <a:xfrm>
            <a:off x="1752600" y="516255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Measure line quality, force trace, and geometry.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915F8DA-30D9-453D-B4F0-B3ADCBB6FB56}"/>
              </a:ext>
            </a:extLst>
          </p:cNvPr>
          <p:cNvSpPr>
            <a:spLocks noGrp="1"/>
          </p:cNvSpPr>
          <p:nvPr/>
        </p:nvSpPr>
        <p:spPr>
          <a:xfrm>
            <a:off x="400050" y="5810250"/>
            <a:ext cx="1047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333"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Current status: the design has defined ownership, safe states, and tests. The remaining work is to measure and verify those decisions on the installed machine.</a:t>
            </a:r>
          </a:p>
        </p:txBody>
      </p:sp>
    </p:spTree>
    <p:extLst>
      <p:ext uri="{BB962C8B-B14F-4D97-AF65-F5344CB8AC3E}">
        <p14:creationId xmlns:p14="http://schemas.microsoft.com/office/powerpoint/2010/main" val="3905808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1216</Words>
  <Application>Microsoft Office PowerPoint</Application>
  <DocSecurity>0</DocSecurity>
  <PresentationFormat>Widescreen</PresentationFormat>
  <Paragraphs>167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Calibri</vt:lpstr>
      <vt:lpstr>Helvetica Neue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Kevin Claypool</cp:lastModifiedBy>
  <cp:revision>4</cp:revision>
  <dcterms:created xsi:type="dcterms:W3CDTF">2026-09-02T20:10:32Z</dcterms:created>
  <dcterms:modified xsi:type="dcterms:W3CDTF">2026-09-02T20:44:41Z</dcterms:modified>
</cp:coreProperties>
</file>