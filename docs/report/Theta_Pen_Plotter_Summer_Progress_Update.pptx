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9" r:id="rId5"/>
    <p:sldId id="259" r:id="rId6"/>
    <p:sldId id="268" r:id="rId7"/>
    <p:sldId id="267" r:id="rId8"/>
    <p:sldId id="266" r:id="rId9"/>
    <p:sldId id="265" r:id="rId10"/>
    <p:sldId id="264" r:id="rId11"/>
    <p:sldId id="263" r:id="rId12"/>
    <p:sldId id="261" r:id="rId13"/>
    <p:sldId id="26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158" autoAdjust="0"/>
  </p:normalViewPr>
  <p:slideViewPr>
    <p:cSldViewPr snapToGrid="0">
      <p:cViewPr varScale="1">
        <p:scale>
          <a:sx n="110" d="100"/>
          <a:sy n="110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[Sources]</a:t>
            </a:r>
          </a:p>
          <a:p>
            <a:r>
              <a:rPr dirty="0"/>
              <a:t>- User-provided toolhead CAD render.</a:t>
            </a:r>
          </a:p>
          <a:p>
            <a:r>
              <a:rPr dirty="0"/>
              <a:t>- No external assets or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Internal project architecture, test plan, and user-provided CAD.</a:t>
            </a:r>
          </a:p>
          <a:p>
            <a:r>
              <a:t>- No external assets or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Internal system architecture and interface documents.</a:t>
            </a:r>
          </a:p>
          <a:p>
            <a:r>
              <a:t>- No external assets or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CAE23-1C99-2F05-FC33-A664BBBFC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56873B-710E-08FD-3A21-C392CE4829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48939E-D08B-EF4B-54B6-2CA3176D0E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Internal system architecture and interface documents.</a:t>
            </a:r>
          </a:p>
          <a:p>
            <a:r>
              <a:t>- No external assets or claims.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DCB0C2-DFD2-A233-B494-2BAD0C9A233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850174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firmware/grblhal/HOMING_AND_MAGNETIC_CALIBRATION.md</a:t>
            </a:r>
          </a:p>
          <a:p>
            <a:r>
              <a:t>- No external assets or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docs/p100-data-movement.html rendered as a static image.</a:t>
            </a:r>
          </a:p>
          <a:p>
            <a:r>
              <a:t>- firmware/grblhal/HOMING_AND_MAGNETIC_CALIBRATION.md</a:t>
            </a:r>
          </a:p>
          <a:p>
            <a:r>
              <a:t>- No external assets or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docs/p100-data-movement.html rendered as a static image.</a:t>
            </a:r>
          </a:p>
          <a:p>
            <a:r>
              <a:t>- firmware/grblhal/HOMING_AND_MAGNETIC_CALIBRATION.md</a:t>
            </a:r>
          </a:p>
          <a:p>
            <a:r>
              <a:t>- No external assets or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docs/p100-data-movement.html rendered as a static image.</a:t>
            </a:r>
          </a:p>
          <a:p>
            <a:r>
              <a:t>- firmware/grblhal/HOMING_AND_MAGNETIC_CALIBRATION.md</a:t>
            </a:r>
          </a:p>
          <a:p>
            <a:r>
              <a:t>- No external assets or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docs/p100-data-movement.html rendered as a static image.</a:t>
            </a:r>
          </a:p>
          <a:p>
            <a:r>
              <a:t>- firmware/grblhal/HOMING_AND_MAGNETIC_CALIBRATION.md</a:t>
            </a:r>
          </a:p>
          <a:p>
            <a:r>
              <a:t>- No external assets or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docs/p100-data-movement.html rendered as a static image.</a:t>
            </a:r>
          </a:p>
          <a:p>
            <a:r>
              <a:t>- firmware/grblhal/HOMING_AND_MAGNETIC_CALIBRATION.md</a:t>
            </a:r>
          </a:p>
          <a:p>
            <a:r>
              <a:t>- No external assets or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docs/p100-data-movement.html rendered as a static image.</a:t>
            </a:r>
          </a:p>
          <a:p>
            <a:r>
              <a:t>- firmware/grblhal/HOMING_AND_MAGNETIC_CALIBRATION.md</a:t>
            </a:r>
          </a:p>
          <a:p>
            <a:r>
              <a:t>- No external assets or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firmware/pen_pressure/CONTROL_STRATEGY.md</a:t>
            </a:r>
          </a:p>
          <a:p>
            <a:r>
              <a:t>- No external assets or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docs/testing/TEST_PLAN.md</a:t>
            </a:r>
          </a:p>
          <a:p>
            <a:r>
              <a:t>- No external assets or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image" Target="../media/image2.png"/><Relationship Id="rId7" Type="http://schemas.openxmlformats.org/officeDocument/2006/relationships/slide" Target="slide9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8.xml"/><Relationship Id="rId5" Type="http://schemas.openxmlformats.org/officeDocument/2006/relationships/slide" Target="slide7.xml"/><Relationship Id="rId4" Type="http://schemas.openxmlformats.org/officeDocument/2006/relationships/slide" Target="slide6.xml"/><Relationship Id="rId9" Type="http://schemas.openxmlformats.org/officeDocument/2006/relationships/slide" Target="slide1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image" Target="../media/image2.png"/><Relationship Id="rId7" Type="http://schemas.openxmlformats.org/officeDocument/2006/relationships/slide" Target="slide9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slide" Target="slide8.xml"/><Relationship Id="rId5" Type="http://schemas.openxmlformats.org/officeDocument/2006/relationships/slide" Target="slide7.xml"/><Relationship Id="rId4" Type="http://schemas.openxmlformats.org/officeDocument/2006/relationships/slide" Target="slide6.xml"/><Relationship Id="rId9" Type="http://schemas.openxmlformats.org/officeDocument/2006/relationships/slide" Target="slide1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image" Target="../media/image2.png"/><Relationship Id="rId7" Type="http://schemas.openxmlformats.org/officeDocument/2006/relationships/slide" Target="slide9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slide" Target="slide8.xml"/><Relationship Id="rId5" Type="http://schemas.openxmlformats.org/officeDocument/2006/relationships/slide" Target="slide7.xml"/><Relationship Id="rId4" Type="http://schemas.openxmlformats.org/officeDocument/2006/relationships/slide" Target="slide6.xml"/><Relationship Id="rId9" Type="http://schemas.openxmlformats.org/officeDocument/2006/relationships/slide" Target="slide1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image" Target="../media/image2.png"/><Relationship Id="rId7" Type="http://schemas.openxmlformats.org/officeDocument/2006/relationships/slide" Target="slide9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slide" Target="slide8.xml"/><Relationship Id="rId5" Type="http://schemas.openxmlformats.org/officeDocument/2006/relationships/slide" Target="slide7.xml"/><Relationship Id="rId4" Type="http://schemas.openxmlformats.org/officeDocument/2006/relationships/slide" Target="slide6.xml"/><Relationship Id="rId9" Type="http://schemas.openxmlformats.org/officeDocument/2006/relationships/slide" Target="slide1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image" Target="../media/image2.png"/><Relationship Id="rId7" Type="http://schemas.openxmlformats.org/officeDocument/2006/relationships/slide" Target="slide9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slide" Target="slide8.xml"/><Relationship Id="rId5" Type="http://schemas.openxmlformats.org/officeDocument/2006/relationships/slide" Target="slide7.xml"/><Relationship Id="rId4" Type="http://schemas.openxmlformats.org/officeDocument/2006/relationships/slide" Target="slide6.xml"/><Relationship Id="rId9" Type="http://schemas.openxmlformats.org/officeDocument/2006/relationships/slide" Target="slide1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image" Target="../media/image2.png"/><Relationship Id="rId7" Type="http://schemas.openxmlformats.org/officeDocument/2006/relationships/slide" Target="slide9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slide" Target="slide8.xml"/><Relationship Id="rId5" Type="http://schemas.openxmlformats.org/officeDocument/2006/relationships/slide" Target="slide7.xml"/><Relationship Id="rId4" Type="http://schemas.openxmlformats.org/officeDocument/2006/relationships/slide" Target="slide6.xml"/><Relationship Id="rId9" Type="http://schemas.openxmlformats.org/officeDocument/2006/relationships/slide" Target="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52D98DF-1233-450F-A29D-86072603A44D}"/>
              </a:ext>
            </a:extLst>
          </p:cNvPr>
          <p:cNvSpPr>
            <a:spLocks noGrp="1"/>
          </p:cNvSpPr>
          <p:nvPr/>
        </p:nvSpPr>
        <p:spPr>
          <a:xfrm>
            <a:off x="400050" y="3905250"/>
            <a:ext cx="4572000" cy="28575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Opening Toolhead Full Bleed">
            <a:extLst>
              <a:ext uri="{FF2B5EF4-FFF2-40B4-BE49-F238E27FC236}">
                <a16:creationId xmlns:a16="http://schemas.microsoft.com/office/drawing/2014/main" id="{DA8C5DBD-3C34-FC5A-DF05-78EDD8B1E61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77" b="4477"/>
          <a:stretch>
            <a:fillRect/>
          </a:stretch>
        </p:blipFill>
        <p:spPr>
          <a:xfrm>
            <a:off x="0" y="614062"/>
            <a:ext cx="12192000" cy="6243938"/>
          </a:xfrm>
          <a:prstGeom prst="rect">
            <a:avLst/>
          </a:prstGeom>
        </p:spPr>
      </p:pic>
      <p:sp>
        <p:nvSpPr>
          <p:cNvPr id="11" name="Opening Title Readability Panel">
            <a:extLst>
              <a:ext uri="{FF2B5EF4-FFF2-40B4-BE49-F238E27FC236}">
                <a16:creationId xmlns:a16="http://schemas.microsoft.com/office/drawing/2014/main" id="{395FC5DE-808B-9D4B-47B9-D54C0F32F3AD}"/>
              </a:ext>
            </a:extLst>
          </p:cNvPr>
          <p:cNvSpPr/>
          <p:nvPr/>
        </p:nvSpPr>
        <p:spPr>
          <a:xfrm>
            <a:off x="0" y="5807074"/>
            <a:ext cx="12192000" cy="1050925"/>
          </a:xfrm>
          <a:prstGeom prst="rect">
            <a:avLst/>
          </a:prstGeom>
          <a:solidFill>
            <a:srgbClr val="081420">
              <a:alpha val="8200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7D2EF2-BFA3-4766-B942-23E570E48309}"/>
              </a:ext>
            </a:extLst>
          </p:cNvPr>
          <p:cNvSpPr>
            <a:spLocks noGrp="1"/>
          </p:cNvSpPr>
          <p:nvPr/>
        </p:nvSpPr>
        <p:spPr>
          <a:xfrm>
            <a:off x="400050" y="6438900"/>
            <a:ext cx="533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00" b="1" dirty="0">
                <a:solidFill>
                  <a:srgbClr val="71B4FF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SUMMER PROGRESS UPDATE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209B30-5687-4D31-B45B-B18289FD1874}"/>
              </a:ext>
            </a:extLst>
          </p:cNvPr>
          <p:cNvSpPr>
            <a:spLocks noGrp="1"/>
          </p:cNvSpPr>
          <p:nvPr/>
        </p:nvSpPr>
        <p:spPr>
          <a:xfrm>
            <a:off x="400050" y="5884672"/>
            <a:ext cx="5588000" cy="889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4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3400" b="1" dirty="0">
                <a:solidFill>
                  <a:srgbClr val="FFFFFF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XY </a:t>
            </a:r>
            <a:r>
              <a:rPr sz="3400" b="1" dirty="0">
                <a:solidFill>
                  <a:srgbClr val="FFFFFF"/>
                </a:solidFill>
                <a:latin typeface="Aptos" panose="020B0004020202020204" pitchFamily="34" charset="0"/>
                <a:ea typeface="Helvetica Neue"/>
                <a:cs typeface="Helvetica Neue"/>
              </a:rPr>
              <a:t>Theta Pen Plotter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D776E8-8ED9-48FA-BCA2-259250FFD263}"/>
              </a:ext>
            </a:extLst>
          </p:cNvPr>
          <p:cNvSpPr>
            <a:spLocks noGrp="1"/>
          </p:cNvSpPr>
          <p:nvPr/>
        </p:nvSpPr>
        <p:spPr>
          <a:xfrm>
            <a:off x="400050" y="6048756"/>
            <a:ext cx="5461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02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endParaRPr sz="2200" b="0" dirty="0">
              <a:solidFill>
                <a:srgbClr val="DEE8F2"/>
              </a:solidFill>
              <a:latin typeface="Aptos" panose="020B0004020202020204" pitchFamily="34" charset="0"/>
              <a:ea typeface="Helvetica Neue"/>
              <a:cs typeface="Helvetica Neue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5FB2DD-B9EE-4E50-ACD4-DD43F4B76831}"/>
              </a:ext>
            </a:extLst>
          </p:cNvPr>
          <p:cNvSpPr>
            <a:spLocks noGrp="1"/>
          </p:cNvSpPr>
          <p:nvPr/>
        </p:nvSpPr>
        <p:spPr>
          <a:xfrm>
            <a:off x="609600" y="4978400"/>
            <a:ext cx="558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endParaRPr sz="1300" b="0" dirty="0">
              <a:solidFill>
                <a:srgbClr val="DCE8F2"/>
              </a:solidFill>
              <a:latin typeface="Aptos" panose="020B0004020202020204" pitchFamily="34" charset="0"/>
              <a:ea typeface="Helvetica Neue"/>
              <a:cs typeface="Helvetica Neue"/>
            </a:endParaRPr>
          </a:p>
        </p:txBody>
      </p:sp>
      <p:sp>
        <p:nvSpPr>
          <p:cNvPr id="12" name="Opening Title Divider">
            <a:extLst>
              <a:ext uri="{FF2B5EF4-FFF2-40B4-BE49-F238E27FC236}">
                <a16:creationId xmlns:a16="http://schemas.microsoft.com/office/drawing/2014/main" id="{EE4DA868-0CB6-CA6E-219B-CADE9894FC57}"/>
              </a:ext>
            </a:extLst>
          </p:cNvPr>
          <p:cNvSpPr/>
          <p:nvPr/>
        </p:nvSpPr>
        <p:spPr>
          <a:xfrm>
            <a:off x="400050" y="6371226"/>
            <a:ext cx="5334000" cy="38100"/>
          </a:xfrm>
          <a:prstGeom prst="rect">
            <a:avLst/>
          </a:prstGeom>
          <a:solidFill>
            <a:srgbClr val="71B4F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659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A5F06BD-8CC6-47BD-A58B-0692AC957AAE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SUMMER PROGRESS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6F1AAD-6BDC-49E5-A31E-92FC6FA179A0}"/>
              </a:ext>
            </a:extLst>
          </p:cNvPr>
          <p:cNvSpPr>
            <a:spLocks noGrp="1"/>
          </p:cNvSpPr>
          <p:nvPr/>
        </p:nvSpPr>
        <p:spPr>
          <a:xfrm>
            <a:off x="400050" y="634365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2B871E-710A-4CFB-90CD-A6F6843CC7D2}"/>
              </a:ext>
            </a:extLst>
          </p:cNvPr>
          <p:cNvSpPr>
            <a:spLocks noGrp="1"/>
          </p:cNvSpPr>
          <p:nvPr/>
        </p:nvSpPr>
        <p:spPr>
          <a:xfrm>
            <a:off x="400050" y="6477000"/>
            <a:ext cx="619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THETA PEN PLOTTER  •  SUMMER PROGRESS UPDATE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06B145-D384-4C71-88C4-25E96383962C}"/>
              </a:ext>
            </a:extLst>
          </p:cNvPr>
          <p:cNvSpPr>
            <a:spLocks noGrp="1"/>
          </p:cNvSpPr>
          <p:nvPr/>
        </p:nvSpPr>
        <p:spPr>
          <a:xfrm>
            <a:off x="11287125" y="647700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9FBEA32-CAF5-47CF-B578-4F937F68C114}"/>
              </a:ext>
            </a:extLst>
          </p:cNvPr>
          <p:cNvSpPr>
            <a:spLocks noGrp="1"/>
          </p:cNvSpPr>
          <p:nvPr/>
        </p:nvSpPr>
        <p:spPr>
          <a:xfrm>
            <a:off x="400050" y="1343025"/>
            <a:ext cx="3333750" cy="3143250"/>
          </a:xfrm>
          <a:prstGeom prst="roundRect">
            <a:avLst>
              <a:gd name="adj" fmla="val 2424"/>
            </a:avLst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EB43A4-49B2-4CFE-A8D3-0660DDB6421D}"/>
              </a:ext>
            </a:extLst>
          </p:cNvPr>
          <p:cNvSpPr>
            <a:spLocks noGrp="1"/>
          </p:cNvSpPr>
          <p:nvPr/>
        </p:nvSpPr>
        <p:spPr>
          <a:xfrm>
            <a:off x="628650" y="162877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MECHANICAL TOOLHEAD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9CB59F-E0E2-4955-A9F6-BA309CE768B0}"/>
              </a:ext>
            </a:extLst>
          </p:cNvPr>
          <p:cNvSpPr>
            <a:spLocks noGrp="1"/>
          </p:cNvSpPr>
          <p:nvPr/>
        </p:nvSpPr>
        <p:spPr>
          <a:xfrm>
            <a:off x="628650" y="2085975"/>
            <a:ext cx="285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Built and iterated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F31B40-7DDD-4F76-8993-A7FC7C64D503}"/>
              </a:ext>
            </a:extLst>
          </p:cNvPr>
          <p:cNvSpPr>
            <a:spLocks noGrp="1"/>
          </p:cNvSpPr>
          <p:nvPr/>
        </p:nvSpPr>
        <p:spPr>
          <a:xfrm>
            <a:off x="628650" y="2867025"/>
            <a:ext cx="28575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  <a:defRPr sz="142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dirty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N20 lead-screw actuator</a:t>
            </a:r>
            <a:endParaRPr lang="en-US" sz="1425" dirty="0">
              <a:solidFill>
                <a:srgbClr val="59616B"/>
              </a:solidFill>
              <a:latin typeface="Helvetica Neue"/>
              <a:ea typeface="Helvetica Neue"/>
              <a:cs typeface="Helvetica Neue"/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42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425" b="0" dirty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S</a:t>
            </a:r>
            <a:r>
              <a:rPr sz="1425" b="0" dirty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pring </a:t>
            </a:r>
            <a:r>
              <a:rPr lang="en-US" sz="1425" b="0" dirty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preload</a:t>
            </a:r>
            <a:endParaRPr lang="en-US" sz="1425" dirty="0">
              <a:solidFill>
                <a:srgbClr val="59616B"/>
              </a:solidFill>
              <a:latin typeface="Helvetica Neue"/>
              <a:ea typeface="Helvetica Neue"/>
              <a:cs typeface="Helvetica Neue"/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42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425" b="0" dirty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L</a:t>
            </a:r>
            <a:r>
              <a:rPr sz="1425" b="0" dirty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oad</a:t>
            </a:r>
            <a:r>
              <a:rPr lang="en-US" sz="1425" dirty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-</a:t>
            </a:r>
            <a:r>
              <a:rPr sz="1425" b="0" dirty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cell force path</a:t>
            </a:r>
            <a:endParaRPr lang="en-US" sz="1425" b="0" dirty="0">
              <a:solidFill>
                <a:srgbClr val="59616B"/>
              </a:solidFill>
              <a:latin typeface="Helvetica Neue"/>
              <a:ea typeface="Helvetica Neue"/>
              <a:cs typeface="Helvetica Neue"/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42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425" b="0" dirty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Finalized X Y Theta frame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42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425" dirty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18” Diameter 720 tooth bed</a:t>
            </a:r>
            <a:r>
              <a:rPr sz="1425" b="0" dirty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58BD53D-1252-45CC-B3BC-A547ACBF2210}"/>
              </a:ext>
            </a:extLst>
          </p:cNvPr>
          <p:cNvSpPr>
            <a:spLocks noGrp="1"/>
          </p:cNvSpPr>
          <p:nvPr/>
        </p:nvSpPr>
        <p:spPr>
          <a:xfrm>
            <a:off x="4133850" y="1343025"/>
            <a:ext cx="3333750" cy="3143250"/>
          </a:xfrm>
          <a:prstGeom prst="roundRect">
            <a:avLst>
              <a:gd name="adj" fmla="val 2424"/>
            </a:avLst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A0FED7-933E-4FC8-8769-A68A4B75DF46}"/>
              </a:ext>
            </a:extLst>
          </p:cNvPr>
          <p:cNvSpPr>
            <a:spLocks noGrp="1"/>
          </p:cNvSpPr>
          <p:nvPr/>
        </p:nvSpPr>
        <p:spPr>
          <a:xfrm>
            <a:off x="4362450" y="162877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CONTROL SPLIT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232C66-4EA1-4BAF-AD75-5FFC5C2E698D}"/>
              </a:ext>
            </a:extLst>
          </p:cNvPr>
          <p:cNvSpPr>
            <a:spLocks noGrp="1"/>
          </p:cNvSpPr>
          <p:nvPr/>
        </p:nvSpPr>
        <p:spPr>
          <a:xfrm>
            <a:off x="4362450" y="2085975"/>
            <a:ext cx="285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2025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Ownership definitions</a:t>
            </a:r>
            <a:endParaRPr sz="2025" b="1" dirty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C058906-5EC3-40B6-9147-95130B863FF4}"/>
              </a:ext>
            </a:extLst>
          </p:cNvPr>
          <p:cNvSpPr>
            <a:spLocks noGrp="1"/>
          </p:cNvSpPr>
          <p:nvPr/>
        </p:nvSpPr>
        <p:spPr>
          <a:xfrm>
            <a:off x="4362450" y="2867025"/>
            <a:ext cx="28575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62500" lnSpcReduction="20000"/>
          </a:bodyPr>
          <a:lstStyle/>
          <a:p>
            <a:pPr marL="285750" indent="-285750" algn="l">
              <a:buFont typeface="Arial" panose="020B0604020202020204" pitchFamily="34" charset="0"/>
              <a:buChar char="•"/>
              <a:defRPr sz="142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425" b="0" dirty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Converter app converts .</a:t>
            </a:r>
            <a:r>
              <a:rPr lang="en-US" sz="1425" dirty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SVG files to .</a:t>
            </a:r>
            <a:r>
              <a:rPr lang="en-US" sz="1425" dirty="0" err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gcode</a:t>
            </a:r>
            <a:endParaRPr lang="en-US" sz="1425" dirty="0">
              <a:solidFill>
                <a:srgbClr val="59616B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defRPr sz="142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endParaRPr lang="en-US" sz="1425" b="0" dirty="0">
              <a:solidFill>
                <a:srgbClr val="59616B"/>
              </a:solidFill>
              <a:latin typeface="Helvetica Neue"/>
              <a:ea typeface="Helvetica Neue"/>
              <a:cs typeface="Helvetica Neue"/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42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425" b="0" dirty="0" err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iosender</a:t>
            </a:r>
            <a:r>
              <a:rPr lang="en-US" sz="1425" b="0" dirty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 sends .</a:t>
            </a:r>
            <a:r>
              <a:rPr lang="en-US" sz="1425" b="0" dirty="0" err="1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gcode</a:t>
            </a:r>
            <a:r>
              <a:rPr lang="en-US" sz="1425" b="0" dirty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 to GRBLHAL OS on RP23CNC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42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endParaRPr lang="en-US" sz="1425" b="0" dirty="0">
              <a:solidFill>
                <a:srgbClr val="59616B"/>
              </a:solidFill>
              <a:latin typeface="Helvetica Neue"/>
              <a:ea typeface="Helvetica Neue"/>
              <a:cs typeface="Helvetica Neue"/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42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dirty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RP23CNC owns X/Y/A</a:t>
            </a:r>
            <a:r>
              <a:rPr lang="en-US" sz="1425" b="0" dirty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, M3/M5</a:t>
            </a:r>
            <a:r>
              <a:rPr sz="1425" b="0" dirty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 motion </a:t>
            </a:r>
            <a:r>
              <a:rPr lang="en-US" sz="1425" b="0" dirty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orchestration</a:t>
            </a:r>
            <a:r>
              <a:rPr sz="1425" b="0" dirty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. </a:t>
            </a:r>
            <a:endParaRPr lang="en-US" sz="1425" b="0" dirty="0">
              <a:solidFill>
                <a:srgbClr val="59616B"/>
              </a:solidFill>
              <a:latin typeface="Helvetica Neue"/>
              <a:ea typeface="Helvetica Neue"/>
              <a:cs typeface="Helvetica Neue"/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42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endParaRPr lang="en-US" sz="1425" b="0" dirty="0">
              <a:solidFill>
                <a:srgbClr val="59616B"/>
              </a:solidFill>
              <a:latin typeface="Helvetica Neue"/>
              <a:ea typeface="Helvetica Neue"/>
              <a:cs typeface="Helvetica Neue"/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42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dirty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Pro Micro owns </a:t>
            </a:r>
            <a:r>
              <a:rPr lang="en-US" sz="1425" b="0" dirty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control system(</a:t>
            </a:r>
            <a:r>
              <a:rPr sz="1425" b="0" dirty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N20 motion, force sensing</a:t>
            </a:r>
            <a:r>
              <a:rPr lang="en-US" sz="1425" b="0" dirty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)</a:t>
            </a:r>
            <a:r>
              <a:rPr sz="1425" b="0" dirty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 and toolhead safety</a:t>
            </a:r>
            <a:r>
              <a:rPr lang="en-US" sz="1425" b="0" dirty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.</a:t>
            </a:r>
            <a:endParaRPr sz="1425" b="0" dirty="0">
              <a:solidFill>
                <a:srgbClr val="59616B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BE86D09-958A-4C34-9887-4AE3AFA0D884}"/>
              </a:ext>
            </a:extLst>
          </p:cNvPr>
          <p:cNvSpPr>
            <a:spLocks noGrp="1"/>
          </p:cNvSpPr>
          <p:nvPr/>
        </p:nvSpPr>
        <p:spPr>
          <a:xfrm>
            <a:off x="7858125" y="1343025"/>
            <a:ext cx="3333750" cy="3143250"/>
          </a:xfrm>
          <a:prstGeom prst="roundRect">
            <a:avLst>
              <a:gd name="adj" fmla="val 2424"/>
            </a:avLst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AA3BF94-CF09-4096-BF4A-D1253318DA33}"/>
              </a:ext>
            </a:extLst>
          </p:cNvPr>
          <p:cNvSpPr>
            <a:spLocks noGrp="1"/>
          </p:cNvSpPr>
          <p:nvPr/>
        </p:nvSpPr>
        <p:spPr>
          <a:xfrm>
            <a:off x="8096250" y="162877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COMMISSIONING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C971C80-8210-4EBA-8D2A-D5071436CE56}"/>
              </a:ext>
            </a:extLst>
          </p:cNvPr>
          <p:cNvSpPr>
            <a:spLocks noGrp="1"/>
          </p:cNvSpPr>
          <p:nvPr/>
        </p:nvSpPr>
        <p:spPr>
          <a:xfrm>
            <a:off x="8096250" y="2085975"/>
            <a:ext cx="285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Planne</a:t>
            </a:r>
            <a:r>
              <a:rPr lang="en-US" sz="2025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</a:t>
            </a:r>
            <a:endParaRPr sz="2025" b="1" dirty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00F6AA-3FA8-4ED0-9A38-0B2378E343B6}"/>
              </a:ext>
            </a:extLst>
          </p:cNvPr>
          <p:cNvSpPr>
            <a:spLocks noGrp="1"/>
          </p:cNvSpPr>
          <p:nvPr/>
        </p:nvSpPr>
        <p:spPr>
          <a:xfrm>
            <a:off x="8096250" y="2867025"/>
            <a:ext cx="28575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500" lnSpcReduction="20000"/>
          </a:bodyPr>
          <a:lstStyle/>
          <a:p>
            <a:pPr algn="l">
              <a:defRPr sz="142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425" b="0" dirty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Test definitions for:</a:t>
            </a:r>
          </a:p>
          <a:p>
            <a:pPr algn="l">
              <a:defRPr sz="142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endParaRPr lang="en-US" sz="1425" b="0" dirty="0">
              <a:solidFill>
                <a:srgbClr val="59616B"/>
              </a:solidFill>
              <a:latin typeface="Helvetica Neue"/>
              <a:ea typeface="Helvetica Neue"/>
              <a:cs typeface="Helvetica Neue"/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42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425" dirty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F</a:t>
            </a:r>
            <a:r>
              <a:rPr sz="1425" b="0" dirty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orce calibration</a:t>
            </a:r>
            <a:endParaRPr lang="en-US" sz="1425" dirty="0">
              <a:solidFill>
                <a:srgbClr val="59616B"/>
              </a:solidFill>
              <a:latin typeface="Helvetica Neue"/>
              <a:ea typeface="Helvetica Neue"/>
              <a:cs typeface="Helvetica Neue"/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42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425" dirty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L</a:t>
            </a:r>
            <a:r>
              <a:rPr sz="1425" b="0" dirty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ift</a:t>
            </a:r>
            <a:r>
              <a:rPr lang="en-US" sz="1425" dirty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-</a:t>
            </a:r>
            <a:r>
              <a:rPr sz="1425" b="0" dirty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home repeatability</a:t>
            </a:r>
            <a:endParaRPr lang="en-US" sz="1425" b="0" dirty="0">
              <a:solidFill>
                <a:srgbClr val="59616B"/>
              </a:solidFill>
              <a:latin typeface="Helvetica Neue"/>
              <a:ea typeface="Helvetica Neue"/>
              <a:cs typeface="Helvetica Neue"/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42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dirty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M5 clearance</a:t>
            </a:r>
            <a:endParaRPr lang="en-US" sz="1425" b="0" dirty="0">
              <a:solidFill>
                <a:srgbClr val="59616B"/>
              </a:solidFill>
              <a:latin typeface="Helvetica Neue"/>
              <a:ea typeface="Helvetica Neue"/>
              <a:cs typeface="Helvetica Neue"/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42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425" dirty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I</a:t>
            </a:r>
            <a:r>
              <a:rPr sz="1425" b="0" dirty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nterchangeable-tool checks</a:t>
            </a:r>
            <a:endParaRPr lang="en-US" sz="1425" b="0" dirty="0">
              <a:solidFill>
                <a:srgbClr val="59616B"/>
              </a:solidFill>
              <a:latin typeface="Helvetica Neue"/>
              <a:ea typeface="Helvetica Neue"/>
              <a:cs typeface="Helvetica Neue"/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42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425" dirty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Finish motor wiring</a:t>
            </a:r>
            <a:endParaRPr sz="1425" b="0" dirty="0">
              <a:solidFill>
                <a:srgbClr val="59616B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0D47CBC-A03B-4F67-9CD5-A565309EF5D6}"/>
              </a:ext>
            </a:extLst>
          </p:cNvPr>
          <p:cNvSpPr>
            <a:spLocks noGrp="1"/>
          </p:cNvSpPr>
          <p:nvPr/>
        </p:nvSpPr>
        <p:spPr>
          <a:xfrm>
            <a:off x="400050" y="4857750"/>
            <a:ext cx="10382250" cy="11772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5000" lnSpcReduction="20000"/>
          </a:bodyPr>
          <a:lstStyle/>
          <a:p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80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Progress </a:t>
            </a:r>
            <a:r>
              <a:rPr sz="180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is being documented as measured</a:t>
            </a:r>
            <a:r>
              <a:rPr lang="en-US" sz="180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tests in TEST_PLAN.md</a:t>
            </a:r>
          </a:p>
          <a:p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lang="en-US" b="1" dirty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80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 – Electrical/Electronics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 – Firmware/Controller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80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 – Motion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 - Toolhead</a:t>
            </a:r>
            <a:endParaRPr lang="en-US" sz="1800" b="1" dirty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lang="en-US" b="1" dirty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sz="1800" b="1" dirty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55585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6F0626F8-8965-48B5-9D86-0101BF110120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HIGH-LEVEL ARCHITECTURE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B7B11B-9769-49D6-9CD1-D9B1E38689B4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270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</a:t>
            </a:r>
            <a:r>
              <a:rPr sz="270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eparat</a:t>
            </a:r>
            <a:r>
              <a:rPr lang="en-US" sz="270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ing</a:t>
            </a:r>
            <a:r>
              <a:rPr sz="270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coordinated motion </a:t>
            </a:r>
            <a:r>
              <a:rPr lang="en-US" sz="270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and</a:t>
            </a:r>
            <a:r>
              <a:rPr sz="270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local force control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2C0756-4365-4B6C-8473-70A1EA522BF7}"/>
              </a:ext>
            </a:extLst>
          </p:cNvPr>
          <p:cNvSpPr>
            <a:spLocks noGrp="1"/>
          </p:cNvSpPr>
          <p:nvPr/>
        </p:nvSpPr>
        <p:spPr>
          <a:xfrm>
            <a:off x="400050" y="634365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25569D-CA4A-4AE7-A04F-0542C3B07E8C}"/>
              </a:ext>
            </a:extLst>
          </p:cNvPr>
          <p:cNvSpPr>
            <a:spLocks noGrp="1"/>
          </p:cNvSpPr>
          <p:nvPr/>
        </p:nvSpPr>
        <p:spPr>
          <a:xfrm>
            <a:off x="400050" y="6477000"/>
            <a:ext cx="619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THETA PEN PLOTTER  •  SUMMER PROGRESS UPDATE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99396C-5F6C-40B1-8BEB-0D7A25932070}"/>
              </a:ext>
            </a:extLst>
          </p:cNvPr>
          <p:cNvSpPr>
            <a:spLocks noGrp="1"/>
          </p:cNvSpPr>
          <p:nvPr/>
        </p:nvSpPr>
        <p:spPr>
          <a:xfrm>
            <a:off x="11287125" y="647700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A1B4A7E-ACD7-4B4B-8402-B1AA1C137F52}"/>
              </a:ext>
            </a:extLst>
          </p:cNvPr>
          <p:cNvSpPr>
            <a:spLocks noGrp="1"/>
          </p:cNvSpPr>
          <p:nvPr/>
        </p:nvSpPr>
        <p:spPr>
          <a:xfrm>
            <a:off x="400050" y="2476500"/>
            <a:ext cx="1809750" cy="1619250"/>
          </a:xfrm>
          <a:prstGeom prst="roundRect">
            <a:avLst>
              <a:gd name="adj" fmla="val 4706"/>
            </a:avLst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5437B8-B8D6-4983-9B9E-AB696ABFDC02}"/>
              </a:ext>
            </a:extLst>
          </p:cNvPr>
          <p:cNvSpPr>
            <a:spLocks noGrp="1"/>
          </p:cNvSpPr>
          <p:nvPr/>
        </p:nvSpPr>
        <p:spPr>
          <a:xfrm>
            <a:off x="571500" y="2724150"/>
            <a:ext cx="1466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Host PC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821233-6A88-472F-B2AE-BDEBAFDE1D8A}"/>
              </a:ext>
            </a:extLst>
          </p:cNvPr>
          <p:cNvSpPr>
            <a:spLocks noGrp="1"/>
          </p:cNvSpPr>
          <p:nvPr/>
        </p:nvSpPr>
        <p:spPr>
          <a:xfrm>
            <a:off x="571500" y="3219450"/>
            <a:ext cx="14668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SVG → G-code</a:t>
            </a:r>
          </a:p>
          <a:p>
            <a:pPr algn="l">
              <a:defRPr sz="12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ioSender streams commands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DC343F9-CB34-4C4D-B5DE-9B84F0CB8A36}"/>
              </a:ext>
            </a:extLst>
          </p:cNvPr>
          <p:cNvSpPr>
            <a:spLocks noGrp="1"/>
          </p:cNvSpPr>
          <p:nvPr/>
        </p:nvSpPr>
        <p:spPr>
          <a:xfrm>
            <a:off x="3333750" y="2476500"/>
            <a:ext cx="3048000" cy="1619250"/>
          </a:xfrm>
          <a:prstGeom prst="roundRect">
            <a:avLst>
              <a:gd name="adj" fmla="val 4706"/>
            </a:avLst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F0A1C01-5A3A-4DA2-B229-D5C0D8D351D0}"/>
              </a:ext>
            </a:extLst>
          </p:cNvPr>
          <p:cNvSpPr>
            <a:spLocks noGrp="1"/>
          </p:cNvSpPr>
          <p:nvPr/>
        </p:nvSpPr>
        <p:spPr>
          <a:xfrm>
            <a:off x="3505200" y="2724150"/>
            <a:ext cx="2705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RP23CNC / grblHAL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47168D-9C5E-452B-862F-4336A0207C3D}"/>
              </a:ext>
            </a:extLst>
          </p:cNvPr>
          <p:cNvSpPr>
            <a:spLocks noGrp="1"/>
          </p:cNvSpPr>
          <p:nvPr/>
        </p:nvSpPr>
        <p:spPr>
          <a:xfrm>
            <a:off x="3505200" y="3219450"/>
            <a:ext cx="27051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Plans X/Y/A motion</a:t>
            </a:r>
          </a:p>
          <a:p>
            <a:pPr algn="l">
              <a:defRPr sz="12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Homing and P100 registration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50D4362-79BE-4DC4-B207-C7E4ACEE1A94}"/>
              </a:ext>
            </a:extLst>
          </p:cNvPr>
          <p:cNvSpPr>
            <a:spLocks noGrp="1"/>
          </p:cNvSpPr>
          <p:nvPr/>
        </p:nvSpPr>
        <p:spPr>
          <a:xfrm>
            <a:off x="7164777" y="2476500"/>
            <a:ext cx="1809750" cy="1619250"/>
          </a:xfrm>
          <a:prstGeom prst="roundRect">
            <a:avLst>
              <a:gd name="adj" fmla="val 4706"/>
            </a:avLst>
          </a:prstGeom>
          <a:solidFill>
            <a:srgbClr val="EAF5FB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883649-D0D2-4D45-B3D8-7F2F0C347451}"/>
              </a:ext>
            </a:extLst>
          </p:cNvPr>
          <p:cNvSpPr>
            <a:spLocks noGrp="1"/>
          </p:cNvSpPr>
          <p:nvPr/>
        </p:nvSpPr>
        <p:spPr>
          <a:xfrm>
            <a:off x="7336227" y="2724150"/>
            <a:ext cx="1466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5745" lnSpcReduction="20000"/>
          </a:bodyPr>
          <a:lstStyle/>
          <a:p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Toolhead Pro Micro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2C0425-029F-4BE4-8EEC-27C5029797AA}"/>
              </a:ext>
            </a:extLst>
          </p:cNvPr>
          <p:cNvSpPr>
            <a:spLocks noGrp="1"/>
          </p:cNvSpPr>
          <p:nvPr/>
        </p:nvSpPr>
        <p:spPr>
          <a:xfrm>
            <a:off x="7336227" y="3219450"/>
            <a:ext cx="14668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Reads load cell</a:t>
            </a:r>
          </a:p>
          <a:p>
            <a:pPr algn="l">
              <a:defRPr sz="12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Controls N20 and safety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A488552-1970-4C79-BCB9-94F2A2724B58}"/>
              </a:ext>
            </a:extLst>
          </p:cNvPr>
          <p:cNvSpPr>
            <a:spLocks noGrp="1"/>
          </p:cNvSpPr>
          <p:nvPr/>
        </p:nvSpPr>
        <p:spPr>
          <a:xfrm>
            <a:off x="10001250" y="2476500"/>
            <a:ext cx="1809750" cy="1619250"/>
          </a:xfrm>
          <a:prstGeom prst="roundRect">
            <a:avLst>
              <a:gd name="adj" fmla="val 4706"/>
            </a:avLst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E79CC2-72F4-4519-BF40-356F0833B82C}"/>
              </a:ext>
            </a:extLst>
          </p:cNvPr>
          <p:cNvSpPr>
            <a:spLocks noGrp="1"/>
          </p:cNvSpPr>
          <p:nvPr/>
        </p:nvSpPr>
        <p:spPr>
          <a:xfrm>
            <a:off x="10172700" y="2724150"/>
            <a:ext cx="1466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Pen + paper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7FE630-5988-405B-9B72-12C8BCB7233E}"/>
              </a:ext>
            </a:extLst>
          </p:cNvPr>
          <p:cNvSpPr>
            <a:spLocks noGrp="1"/>
          </p:cNvSpPr>
          <p:nvPr/>
        </p:nvSpPr>
        <p:spPr>
          <a:xfrm>
            <a:off x="10172700" y="3219450"/>
            <a:ext cx="14668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dirty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Writing force</a:t>
            </a:r>
          </a:p>
          <a:p>
            <a:pPr algn="l">
              <a:defRPr sz="12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dirty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creates the mark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2ADFD08-C19E-4DD4-B440-0EDCCE5E0062}"/>
              </a:ext>
            </a:extLst>
          </p:cNvPr>
          <p:cNvSpPr>
            <a:spLocks noGrp="1"/>
          </p:cNvSpPr>
          <p:nvPr/>
        </p:nvSpPr>
        <p:spPr>
          <a:xfrm>
            <a:off x="2571750" y="293370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00" b="1" dirty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07C9902-9EF6-4D94-A63E-0354F7020934}"/>
              </a:ext>
            </a:extLst>
          </p:cNvPr>
          <p:cNvSpPr>
            <a:spLocks noGrp="1"/>
          </p:cNvSpPr>
          <p:nvPr/>
        </p:nvSpPr>
        <p:spPr>
          <a:xfrm>
            <a:off x="2245923" y="2667000"/>
            <a:ext cx="1066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dirty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G-code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B1625C7-F60D-4DBE-9478-34A2FA926DBF}"/>
              </a:ext>
            </a:extLst>
          </p:cNvPr>
          <p:cNvSpPr>
            <a:spLocks noGrp="1"/>
          </p:cNvSpPr>
          <p:nvPr/>
        </p:nvSpPr>
        <p:spPr>
          <a:xfrm>
            <a:off x="6515100" y="2914650"/>
            <a:ext cx="456481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00" b="1" dirty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4516AF1-5276-4496-9781-D96179E8828E}"/>
              </a:ext>
            </a:extLst>
          </p:cNvPr>
          <p:cNvSpPr>
            <a:spLocks noGrp="1"/>
          </p:cNvSpPr>
          <p:nvPr/>
        </p:nvSpPr>
        <p:spPr>
          <a:xfrm>
            <a:off x="6438900" y="2667000"/>
            <a:ext cx="57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dirty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M3 / M5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79895A4-BAFC-4E3D-9428-DDF97F096842}"/>
              </a:ext>
            </a:extLst>
          </p:cNvPr>
          <p:cNvSpPr>
            <a:spLocks noGrp="1"/>
          </p:cNvSpPr>
          <p:nvPr/>
        </p:nvSpPr>
        <p:spPr>
          <a:xfrm>
            <a:off x="9219481" y="2914650"/>
            <a:ext cx="686519" cy="2857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00" b="1" dirty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DD025EA-6AE9-4730-B305-1154FF5EA65D}"/>
              </a:ext>
            </a:extLst>
          </p:cNvPr>
          <p:cNvSpPr>
            <a:spLocks noGrp="1"/>
          </p:cNvSpPr>
          <p:nvPr/>
        </p:nvSpPr>
        <p:spPr>
          <a:xfrm>
            <a:off x="8991600" y="2667000"/>
            <a:ext cx="1066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9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force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ED95B8F-F380-4014-977C-009F93F59EFB}"/>
              </a:ext>
            </a:extLst>
          </p:cNvPr>
          <p:cNvSpPr>
            <a:spLocks noGrp="1"/>
          </p:cNvSpPr>
          <p:nvPr/>
        </p:nvSpPr>
        <p:spPr>
          <a:xfrm>
            <a:off x="3676650" y="5372100"/>
            <a:ext cx="723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760"/>
          </a:bodyPr>
          <a:lstStyle/>
          <a:p>
            <a:pPr algn="ctr">
              <a:defRPr sz="1575" b="1">
                <a:solidFill>
                  <a:srgbClr val="23865B"/>
                </a:solidFill>
                <a:latin typeface="Helvetica Neue"/>
                <a:ea typeface="Helvetica Neue"/>
                <a:cs typeface="Helvetica Neue"/>
              </a:defRPr>
            </a:pPr>
            <a:endParaRPr sz="1575" b="1" dirty="0">
              <a:solidFill>
                <a:srgbClr val="23865B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3A7BAC-054A-A2D9-FF0E-359B6DFC8D80}"/>
              </a:ext>
            </a:extLst>
          </p:cNvPr>
          <p:cNvSpPr txBox="1"/>
          <p:nvPr/>
        </p:nvSpPr>
        <p:spPr>
          <a:xfrm>
            <a:off x="7538268" y="1589127"/>
            <a:ext cx="246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Toolhead control system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4BD05B5-A0C4-0A1D-F899-0DB6AB6DB2DC}"/>
              </a:ext>
            </a:extLst>
          </p:cNvPr>
          <p:cNvSpPr txBox="1"/>
          <p:nvPr/>
        </p:nvSpPr>
        <p:spPr>
          <a:xfrm>
            <a:off x="599103" y="1586984"/>
            <a:ext cx="1610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Gcode</a:t>
            </a:r>
            <a:r>
              <a:rPr lang="en-US" dirty="0"/>
              <a:t> creation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B8E5E04-7CB0-72FA-D318-4A55F9341DF2}"/>
              </a:ext>
            </a:extLst>
          </p:cNvPr>
          <p:cNvSpPr txBox="1"/>
          <p:nvPr/>
        </p:nvSpPr>
        <p:spPr>
          <a:xfrm>
            <a:off x="4223089" y="1583293"/>
            <a:ext cx="1269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Movement 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955FDB0-DDC8-C5C8-A8B8-08EB424FA541}"/>
              </a:ext>
            </a:extLst>
          </p:cNvPr>
          <p:cNvCxnSpPr>
            <a:cxnSpLocks/>
          </p:cNvCxnSpPr>
          <p:nvPr/>
        </p:nvCxnSpPr>
        <p:spPr>
          <a:xfrm flipV="1">
            <a:off x="5650302" y="1764268"/>
            <a:ext cx="1321279" cy="73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357C412-84B9-6F1B-C162-0223C1FB42D1}"/>
              </a:ext>
            </a:extLst>
          </p:cNvPr>
          <p:cNvCxnSpPr>
            <a:cxnSpLocks/>
          </p:cNvCxnSpPr>
          <p:nvPr/>
        </p:nvCxnSpPr>
        <p:spPr>
          <a:xfrm>
            <a:off x="6971581" y="1771650"/>
            <a:ext cx="0" cy="5180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02FA32B-5236-35B6-6B7E-FE20E1817A37}"/>
              </a:ext>
            </a:extLst>
          </p:cNvPr>
          <p:cNvCxnSpPr>
            <a:cxnSpLocks/>
          </p:cNvCxnSpPr>
          <p:nvPr/>
        </p:nvCxnSpPr>
        <p:spPr>
          <a:xfrm>
            <a:off x="3336625" y="1767959"/>
            <a:ext cx="6800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9407F56-2D95-693D-921E-554F59250BA0}"/>
              </a:ext>
            </a:extLst>
          </p:cNvPr>
          <p:cNvCxnSpPr>
            <a:cxnSpLocks/>
          </p:cNvCxnSpPr>
          <p:nvPr/>
        </p:nvCxnSpPr>
        <p:spPr>
          <a:xfrm>
            <a:off x="3345252" y="1767959"/>
            <a:ext cx="0" cy="5180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BA17C8C-D580-937E-19C0-082D6F033052}"/>
              </a:ext>
            </a:extLst>
          </p:cNvPr>
          <p:cNvCxnSpPr>
            <a:cxnSpLocks/>
          </p:cNvCxnSpPr>
          <p:nvPr/>
        </p:nvCxnSpPr>
        <p:spPr>
          <a:xfrm>
            <a:off x="7142851" y="1767959"/>
            <a:ext cx="3103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75A4A5E-9B01-71CE-F590-571AC4A58CDC}"/>
              </a:ext>
            </a:extLst>
          </p:cNvPr>
          <p:cNvCxnSpPr>
            <a:cxnSpLocks/>
          </p:cNvCxnSpPr>
          <p:nvPr/>
        </p:nvCxnSpPr>
        <p:spPr>
          <a:xfrm>
            <a:off x="7151478" y="1767959"/>
            <a:ext cx="0" cy="5180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FFC8D22-746A-CE42-186B-8EA1FBE3DE00}"/>
              </a:ext>
            </a:extLst>
          </p:cNvPr>
          <p:cNvCxnSpPr>
            <a:cxnSpLocks/>
          </p:cNvCxnSpPr>
          <p:nvPr/>
        </p:nvCxnSpPr>
        <p:spPr>
          <a:xfrm>
            <a:off x="10086295" y="1764268"/>
            <a:ext cx="16961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0B1708B-7705-026C-BE7C-93FF0AB8FE31}"/>
              </a:ext>
            </a:extLst>
          </p:cNvPr>
          <p:cNvCxnSpPr>
            <a:cxnSpLocks/>
          </p:cNvCxnSpPr>
          <p:nvPr/>
        </p:nvCxnSpPr>
        <p:spPr>
          <a:xfrm>
            <a:off x="11782425" y="1764268"/>
            <a:ext cx="0" cy="5180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2A3932B-CCA3-5A25-A68A-B951A027AF50}"/>
              </a:ext>
            </a:extLst>
          </p:cNvPr>
          <p:cNvCxnSpPr>
            <a:cxnSpLocks/>
          </p:cNvCxnSpPr>
          <p:nvPr/>
        </p:nvCxnSpPr>
        <p:spPr>
          <a:xfrm>
            <a:off x="213144" y="1764268"/>
            <a:ext cx="295814" cy="73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BEFD1C8-ED86-36D3-4E2D-0E0F131FF231}"/>
              </a:ext>
            </a:extLst>
          </p:cNvPr>
          <p:cNvCxnSpPr>
            <a:cxnSpLocks/>
          </p:cNvCxnSpPr>
          <p:nvPr/>
        </p:nvCxnSpPr>
        <p:spPr>
          <a:xfrm>
            <a:off x="221771" y="1764268"/>
            <a:ext cx="0" cy="5180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685462D-C93E-8BA5-1982-DF52469C66EC}"/>
              </a:ext>
            </a:extLst>
          </p:cNvPr>
          <p:cNvCxnSpPr>
            <a:cxnSpLocks/>
          </p:cNvCxnSpPr>
          <p:nvPr/>
        </p:nvCxnSpPr>
        <p:spPr>
          <a:xfrm>
            <a:off x="2290133" y="1764268"/>
            <a:ext cx="8139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6EAE1648-79C4-BEBA-4B8F-734B2A7B3DC6}"/>
              </a:ext>
            </a:extLst>
          </p:cNvPr>
          <p:cNvCxnSpPr>
            <a:cxnSpLocks/>
          </p:cNvCxnSpPr>
          <p:nvPr/>
        </p:nvCxnSpPr>
        <p:spPr>
          <a:xfrm>
            <a:off x="3104122" y="1764268"/>
            <a:ext cx="0" cy="5180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28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F9DE3-FB5B-8358-5A48-ED82BDCED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92AB593-4818-0032-D95C-F911B79330BE}"/>
              </a:ext>
            </a:extLst>
          </p:cNvPr>
          <p:cNvSpPr>
            <a:spLocks noGrp="1"/>
          </p:cNvSpPr>
          <p:nvPr/>
        </p:nvSpPr>
        <p:spPr>
          <a:xfrm>
            <a:off x="400050" y="634365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C8F8EB-FCA1-6C57-29AD-90D8F0F5190F}"/>
              </a:ext>
            </a:extLst>
          </p:cNvPr>
          <p:cNvSpPr>
            <a:spLocks noGrp="1"/>
          </p:cNvSpPr>
          <p:nvPr/>
        </p:nvSpPr>
        <p:spPr>
          <a:xfrm>
            <a:off x="400050" y="6477000"/>
            <a:ext cx="619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THETA PEN PLOTTER  •  SUMMER PROGRESS UPDATE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6DB36A-2D62-5E11-E1E8-D819EC76CEDE}"/>
              </a:ext>
            </a:extLst>
          </p:cNvPr>
          <p:cNvSpPr>
            <a:spLocks noGrp="1"/>
          </p:cNvSpPr>
          <p:nvPr/>
        </p:nvSpPr>
        <p:spPr>
          <a:xfrm>
            <a:off x="11287125" y="647700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9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4</a:t>
            </a:r>
            <a:endParaRPr sz="900" b="0">
              <a:solidFill>
                <a:srgbClr val="59616B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ECE54C-A832-F190-90CA-760434761C94}"/>
              </a:ext>
            </a:extLst>
          </p:cNvPr>
          <p:cNvSpPr txBox="1"/>
          <p:nvPr/>
        </p:nvSpPr>
        <p:spPr>
          <a:xfrm>
            <a:off x="400050" y="381372"/>
            <a:ext cx="63500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sz="1300" b="1">
                <a:solidFill>
                  <a:srgbClr val="3F8BFF"/>
                </a:solidFill>
                <a:latin typeface="Aptos" panose="020B0004020202020204" pitchFamily="34" charset="0"/>
              </a:rPr>
              <a:t>INTERFACE PROTECTION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78761C7-2188-8494-20C7-C1B67B4E8942}"/>
              </a:ext>
            </a:extLst>
          </p:cNvPr>
          <p:cNvSpPr txBox="1"/>
          <p:nvPr/>
        </p:nvSpPr>
        <p:spPr>
          <a:xfrm>
            <a:off x="400050" y="585773"/>
            <a:ext cx="11391900" cy="47705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sz="3100" b="1" dirty="0">
                <a:solidFill>
                  <a:srgbClr val="14191E"/>
                </a:solidFill>
                <a:latin typeface="Aptos" panose="020B0004020202020204" pitchFamily="34" charset="0"/>
              </a:rPr>
              <a:t>Opto-isolation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67C1EC3-B611-D0B2-C3E2-FAA0A2EEF923}"/>
              </a:ext>
            </a:extLst>
          </p:cNvPr>
          <p:cNvSpPr txBox="1"/>
          <p:nvPr/>
        </p:nvSpPr>
        <p:spPr>
          <a:xfrm>
            <a:off x="400050" y="1094044"/>
            <a:ext cx="113919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sz="1700" dirty="0">
                <a:solidFill>
                  <a:srgbClr val="5B6571"/>
                </a:solidFill>
                <a:latin typeface="Aptos" panose="020B0004020202020204" pitchFamily="34" charset="0"/>
              </a:rPr>
              <a:t>Digital paths carry commands and status without sharing grounds.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79088F5-C3D2-2D3A-4B1B-458F02ABCBDB}"/>
              </a:ext>
            </a:extLst>
          </p:cNvPr>
          <p:cNvSpPr txBox="1"/>
          <p:nvPr/>
        </p:nvSpPr>
        <p:spPr>
          <a:xfrm>
            <a:off x="663575" y="2280364"/>
            <a:ext cx="33020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14191E"/>
                </a:solidFill>
                <a:latin typeface="Aptos" panose="020B0004020202020204" pitchFamily="34" charset="0"/>
              </a:rPr>
              <a:t>RP23CNC / controller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B77FEC2-E75B-E6D2-7C79-6CE2F8C45676}"/>
              </a:ext>
            </a:extLst>
          </p:cNvPr>
          <p:cNvSpPr txBox="1"/>
          <p:nvPr/>
        </p:nvSpPr>
        <p:spPr>
          <a:xfrm>
            <a:off x="4448175" y="2280364"/>
            <a:ext cx="33020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1700" b="1" dirty="0">
                <a:solidFill>
                  <a:srgbClr val="14191E"/>
                </a:solidFill>
                <a:latin typeface="Aptos" panose="020B0004020202020204" pitchFamily="34" charset="0"/>
              </a:rPr>
              <a:t>Opto-isolation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3345C9F-F44E-F172-55F5-DCAA579064C4}"/>
              </a:ext>
            </a:extLst>
          </p:cNvPr>
          <p:cNvSpPr txBox="1"/>
          <p:nvPr/>
        </p:nvSpPr>
        <p:spPr>
          <a:xfrm>
            <a:off x="8232775" y="2280364"/>
            <a:ext cx="33020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14191E"/>
                </a:solidFill>
                <a:latin typeface="Aptos" panose="020B0004020202020204" pitchFamily="34" charset="0"/>
              </a:rPr>
              <a:t>Pro Micro / toolhead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F4AC496-1460-FAA8-B00C-2F2E419A4F5A}"/>
              </a:ext>
            </a:extLst>
          </p:cNvPr>
          <p:cNvSpPr txBox="1"/>
          <p:nvPr/>
        </p:nvSpPr>
        <p:spPr>
          <a:xfrm>
            <a:off x="663575" y="2590542"/>
            <a:ext cx="33020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1300">
                <a:solidFill>
                  <a:srgbClr val="5B6571"/>
                </a:solidFill>
                <a:latin typeface="Aptos" panose="020B0004020202020204" pitchFamily="34" charset="0"/>
              </a:rPr>
              <a:t>5 V and ~12 V domain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BD46128-4473-D098-8FA2-CC89386FB20F}"/>
              </a:ext>
            </a:extLst>
          </p:cNvPr>
          <p:cNvSpPr txBox="1"/>
          <p:nvPr/>
        </p:nvSpPr>
        <p:spPr>
          <a:xfrm>
            <a:off x="8232775" y="2590542"/>
            <a:ext cx="3302000" cy="200055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ctr"/>
            <a:r>
              <a:rPr lang="en-US" sz="1300">
                <a:solidFill>
                  <a:srgbClr val="5B6571"/>
                </a:solidFill>
                <a:latin typeface="Aptos" panose="020B0004020202020204" pitchFamily="34" charset="0"/>
              </a:rPr>
              <a:t>3.3 V domain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57DAC71-6164-DF19-A8C8-80CD1562D4E0}"/>
              </a:ext>
            </a:extLst>
          </p:cNvPr>
          <p:cNvCxnSpPr/>
          <p:nvPr/>
        </p:nvCxnSpPr>
        <p:spPr>
          <a:xfrm>
            <a:off x="3965575" y="3301370"/>
            <a:ext cx="762000" cy="0"/>
          </a:xfrm>
          <a:prstGeom prst="line">
            <a:avLst/>
          </a:prstGeom>
          <a:ln w="28575">
            <a:solidFill>
              <a:srgbClr val="3F8B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CBA5CCB-7400-E728-35C7-5D363F5F97CE}"/>
              </a:ext>
            </a:extLst>
          </p:cNvPr>
          <p:cNvCxnSpPr/>
          <p:nvPr/>
        </p:nvCxnSpPr>
        <p:spPr>
          <a:xfrm>
            <a:off x="7470775" y="3301370"/>
            <a:ext cx="762000" cy="0"/>
          </a:xfrm>
          <a:prstGeom prst="line">
            <a:avLst/>
          </a:prstGeom>
          <a:ln w="28575">
            <a:solidFill>
              <a:srgbClr val="3F8B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BDF4886-E492-1A80-37BB-3DE2E9DF938E}"/>
              </a:ext>
            </a:extLst>
          </p:cNvPr>
          <p:cNvCxnSpPr/>
          <p:nvPr/>
        </p:nvCxnSpPr>
        <p:spPr>
          <a:xfrm>
            <a:off x="3965575" y="4126870"/>
            <a:ext cx="762000" cy="0"/>
          </a:xfrm>
          <a:prstGeom prst="line">
            <a:avLst/>
          </a:prstGeom>
          <a:ln w="28575">
            <a:solidFill>
              <a:srgbClr val="3F8B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7D4A29F-14B7-A7BF-66ED-6096926CA1A8}"/>
              </a:ext>
            </a:extLst>
          </p:cNvPr>
          <p:cNvCxnSpPr/>
          <p:nvPr/>
        </p:nvCxnSpPr>
        <p:spPr>
          <a:xfrm>
            <a:off x="7470775" y="4126870"/>
            <a:ext cx="762000" cy="0"/>
          </a:xfrm>
          <a:prstGeom prst="line">
            <a:avLst/>
          </a:prstGeom>
          <a:ln w="28575">
            <a:solidFill>
              <a:srgbClr val="3F8B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FA1DFFB-275F-977B-1DB2-771E01274D98}"/>
              </a:ext>
            </a:extLst>
          </p:cNvPr>
          <p:cNvCxnSpPr/>
          <p:nvPr/>
        </p:nvCxnSpPr>
        <p:spPr>
          <a:xfrm flipH="1">
            <a:off x="3965575" y="4952370"/>
            <a:ext cx="762000" cy="0"/>
          </a:xfrm>
          <a:prstGeom prst="line">
            <a:avLst/>
          </a:prstGeom>
          <a:ln w="28575">
            <a:solidFill>
              <a:srgbClr val="3F8B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7C27497-F103-2442-70CA-E77298671D80}"/>
              </a:ext>
            </a:extLst>
          </p:cNvPr>
          <p:cNvCxnSpPr/>
          <p:nvPr/>
        </p:nvCxnSpPr>
        <p:spPr>
          <a:xfrm flipH="1">
            <a:off x="7470775" y="4952370"/>
            <a:ext cx="762000" cy="0"/>
          </a:xfrm>
          <a:prstGeom prst="line">
            <a:avLst/>
          </a:prstGeom>
          <a:ln w="28575">
            <a:solidFill>
              <a:srgbClr val="3F8B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54BF9163-0F16-B0C5-0D68-D6FAF8EC89B0}"/>
              </a:ext>
            </a:extLst>
          </p:cNvPr>
          <p:cNvSpPr/>
          <p:nvPr/>
        </p:nvSpPr>
        <p:spPr>
          <a:xfrm>
            <a:off x="663575" y="3021970"/>
            <a:ext cx="3302000" cy="558800"/>
          </a:xfrm>
          <a:prstGeom prst="roundRect">
            <a:avLst/>
          </a:prstGeom>
          <a:solidFill>
            <a:srgbClr val="EFF1F3"/>
          </a:solidFill>
          <a:ln w="13970">
            <a:solidFill>
              <a:srgbClr val="BCC5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14191E"/>
                </a:solidFill>
                <a:latin typeface="Aptos" panose="020B0004020202020204" pitchFamily="34" charset="0"/>
              </a:rPr>
              <a:t>ENA - M3 / M5 (forward/retract)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3FB04673-995C-5197-10D8-9044431F9618}"/>
              </a:ext>
            </a:extLst>
          </p:cNvPr>
          <p:cNvSpPr/>
          <p:nvPr/>
        </p:nvSpPr>
        <p:spPr>
          <a:xfrm>
            <a:off x="4727575" y="3021970"/>
            <a:ext cx="2743200" cy="558800"/>
          </a:xfrm>
          <a:prstGeom prst="roundRect">
            <a:avLst/>
          </a:prstGeom>
          <a:solidFill>
            <a:srgbClr val="3F8BFF"/>
          </a:solidFill>
          <a:ln w="13970">
            <a:solidFill>
              <a:srgbClr val="3F8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700">
                <a:solidFill>
                  <a:srgbClr val="FF0000"/>
                </a:solidFill>
                <a:latin typeface="Aptos" panose="020B0004020202020204" pitchFamily="34" charset="0"/>
              </a:rPr>
              <a:t>U1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194A4318-500F-E49C-ED80-5E735B8EF674}"/>
              </a:ext>
            </a:extLst>
          </p:cNvPr>
          <p:cNvSpPr/>
          <p:nvPr/>
        </p:nvSpPr>
        <p:spPr>
          <a:xfrm>
            <a:off x="8232775" y="3021970"/>
            <a:ext cx="3302000" cy="558800"/>
          </a:xfrm>
          <a:prstGeom prst="roundRect">
            <a:avLst/>
          </a:prstGeom>
          <a:solidFill>
            <a:srgbClr val="E6F3FF"/>
          </a:solidFill>
          <a:ln w="13970">
            <a:solidFill>
              <a:srgbClr val="3F8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600">
                <a:solidFill>
                  <a:srgbClr val="14191E"/>
                </a:solidFill>
                <a:latin typeface="Aptos" panose="020B0004020202020204" pitchFamily="34" charset="0"/>
              </a:rPr>
              <a:t>GP29 - command input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F4637429-9CD6-5073-3710-2E7323B43780}"/>
              </a:ext>
            </a:extLst>
          </p:cNvPr>
          <p:cNvSpPr/>
          <p:nvPr/>
        </p:nvSpPr>
        <p:spPr>
          <a:xfrm>
            <a:off x="663575" y="3847470"/>
            <a:ext cx="3302000" cy="558800"/>
          </a:xfrm>
          <a:prstGeom prst="roundRect">
            <a:avLst/>
          </a:prstGeom>
          <a:solidFill>
            <a:srgbClr val="EFF1F3"/>
          </a:solidFill>
          <a:ln w="13970">
            <a:solidFill>
              <a:srgbClr val="BCC5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14191E"/>
                </a:solidFill>
                <a:latin typeface="Aptos" panose="020B0004020202020204" pitchFamily="34" charset="0"/>
              </a:rPr>
              <a:t>Aux 0 - arm request (homing start)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D783E22-3392-8FA8-AF20-0348A5B86F90}"/>
              </a:ext>
            </a:extLst>
          </p:cNvPr>
          <p:cNvSpPr/>
          <p:nvPr/>
        </p:nvSpPr>
        <p:spPr>
          <a:xfrm>
            <a:off x="4727575" y="3847470"/>
            <a:ext cx="2743200" cy="558800"/>
          </a:xfrm>
          <a:prstGeom prst="roundRect">
            <a:avLst/>
          </a:prstGeom>
          <a:solidFill>
            <a:srgbClr val="3F8BFF"/>
          </a:solidFill>
          <a:ln w="13970">
            <a:solidFill>
              <a:srgbClr val="3F8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700">
                <a:solidFill>
                  <a:srgbClr val="FF0000"/>
                </a:solidFill>
                <a:latin typeface="Aptos" panose="020B0004020202020204" pitchFamily="34" charset="0"/>
              </a:rPr>
              <a:t>U2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CA9A26F6-ED89-EC56-A8FB-99A77EEAAD85}"/>
              </a:ext>
            </a:extLst>
          </p:cNvPr>
          <p:cNvSpPr/>
          <p:nvPr/>
        </p:nvSpPr>
        <p:spPr>
          <a:xfrm>
            <a:off x="8232775" y="3847470"/>
            <a:ext cx="3302000" cy="558800"/>
          </a:xfrm>
          <a:prstGeom prst="roundRect">
            <a:avLst/>
          </a:prstGeom>
          <a:solidFill>
            <a:srgbClr val="E6F3FF"/>
          </a:solidFill>
          <a:ln w="13970">
            <a:solidFill>
              <a:srgbClr val="3F8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600">
                <a:solidFill>
                  <a:srgbClr val="14191E"/>
                </a:solidFill>
                <a:latin typeface="Aptos" panose="020B0004020202020204" pitchFamily="34" charset="0"/>
              </a:rPr>
              <a:t>GP28 - request input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F53806BE-5142-8F64-FCBB-33DF8CFC879A}"/>
              </a:ext>
            </a:extLst>
          </p:cNvPr>
          <p:cNvSpPr/>
          <p:nvPr/>
        </p:nvSpPr>
        <p:spPr>
          <a:xfrm>
            <a:off x="663575" y="4672970"/>
            <a:ext cx="3302000" cy="558800"/>
          </a:xfrm>
          <a:prstGeom prst="roundRect">
            <a:avLst/>
          </a:prstGeom>
          <a:solidFill>
            <a:srgbClr val="EFF1F3"/>
          </a:solidFill>
          <a:ln w="13970">
            <a:solidFill>
              <a:srgbClr val="BCC5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14191E"/>
                </a:solidFill>
                <a:latin typeface="Aptos" panose="020B0004020202020204" pitchFamily="34" charset="0"/>
              </a:rPr>
              <a:t>PRB – input signal + encoder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B2D3D29C-5B6C-3B23-5E40-093AD6577AA6}"/>
              </a:ext>
            </a:extLst>
          </p:cNvPr>
          <p:cNvSpPr/>
          <p:nvPr/>
        </p:nvSpPr>
        <p:spPr>
          <a:xfrm>
            <a:off x="4727575" y="4672970"/>
            <a:ext cx="2743200" cy="558800"/>
          </a:xfrm>
          <a:prstGeom prst="roundRect">
            <a:avLst/>
          </a:prstGeom>
          <a:solidFill>
            <a:srgbClr val="3F8BFF"/>
          </a:solidFill>
          <a:ln w="13970">
            <a:solidFill>
              <a:srgbClr val="3F8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700">
                <a:solidFill>
                  <a:srgbClr val="FF0000"/>
                </a:solidFill>
                <a:latin typeface="Aptos" panose="020B0004020202020204" pitchFamily="34" charset="0"/>
              </a:rPr>
              <a:t>U3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AC355B4A-DC31-69FC-AEB4-3A1298F3A39A}"/>
              </a:ext>
            </a:extLst>
          </p:cNvPr>
          <p:cNvSpPr/>
          <p:nvPr/>
        </p:nvSpPr>
        <p:spPr>
          <a:xfrm>
            <a:off x="8232775" y="4672970"/>
            <a:ext cx="3302000" cy="558800"/>
          </a:xfrm>
          <a:prstGeom prst="roundRect">
            <a:avLst/>
          </a:prstGeom>
          <a:solidFill>
            <a:srgbClr val="E6F3FF"/>
          </a:solidFill>
          <a:ln w="13970">
            <a:solidFill>
              <a:srgbClr val="3F8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600">
                <a:solidFill>
                  <a:srgbClr val="14191E"/>
                </a:solidFill>
                <a:latin typeface="Aptos" panose="020B0004020202020204" pitchFamily="34" charset="0"/>
              </a:rPr>
              <a:t>GP27 - status output</a:t>
            </a:r>
          </a:p>
        </p:txBody>
      </p:sp>
    </p:spTree>
    <p:extLst>
      <p:ext uri="{BB962C8B-B14F-4D97-AF65-F5344CB8AC3E}">
        <p14:creationId xmlns:p14="http://schemas.microsoft.com/office/powerpoint/2010/main" val="1369350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F62304FE-8F32-4772-95F3-8619A29DB5F9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HOW THE MACHINE HOMES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7685C0-0485-4145-8C2C-48BB71D7F293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943"/>
          </a:bodyPr>
          <a:lstStyle/>
          <a:p>
            <a:pPr algn="l"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Homing</a:t>
            </a:r>
            <a:r>
              <a:rPr lang="en-US" sz="270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: </a:t>
            </a:r>
            <a:r>
              <a:rPr sz="270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machine position and toolhead </a:t>
            </a:r>
            <a:r>
              <a:rPr lang="en-US" sz="270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touch calibration</a:t>
            </a:r>
            <a:endParaRPr sz="2700" b="1" dirty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1C4DFF-8E93-4A18-9910-BACD783CBEB1}"/>
              </a:ext>
            </a:extLst>
          </p:cNvPr>
          <p:cNvSpPr>
            <a:spLocks noGrp="1"/>
          </p:cNvSpPr>
          <p:nvPr/>
        </p:nvSpPr>
        <p:spPr>
          <a:xfrm>
            <a:off x="400050" y="634365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349F42-8FEE-4214-8937-62B60507CA1F}"/>
              </a:ext>
            </a:extLst>
          </p:cNvPr>
          <p:cNvSpPr>
            <a:spLocks noGrp="1"/>
          </p:cNvSpPr>
          <p:nvPr/>
        </p:nvSpPr>
        <p:spPr>
          <a:xfrm>
            <a:off x="400050" y="6477000"/>
            <a:ext cx="619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THETA PEN PLOTTER  •  SUMMER PROGRESS UPDATE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31A5DE-132C-4C01-9404-0EF52E0568F2}"/>
              </a:ext>
            </a:extLst>
          </p:cNvPr>
          <p:cNvSpPr>
            <a:spLocks noGrp="1"/>
          </p:cNvSpPr>
          <p:nvPr/>
        </p:nvSpPr>
        <p:spPr>
          <a:xfrm>
            <a:off x="11287125" y="647700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9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5</a:t>
            </a:r>
            <a:endParaRPr sz="900" b="0">
              <a:solidFill>
                <a:srgbClr val="59616B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9DF9717-2CB1-4CF6-B7BB-9A6DCF104766}"/>
              </a:ext>
            </a:extLst>
          </p:cNvPr>
          <p:cNvSpPr>
            <a:spLocks noGrp="1"/>
          </p:cNvSpPr>
          <p:nvPr/>
        </p:nvSpPr>
        <p:spPr>
          <a:xfrm>
            <a:off x="400050" y="2152650"/>
            <a:ext cx="1962150" cy="2333625"/>
          </a:xfrm>
          <a:prstGeom prst="roundRect">
            <a:avLst>
              <a:gd name="adj" fmla="val 3883"/>
            </a:avLst>
          </a:prstGeom>
          <a:solidFill>
            <a:srgbClr val="EAF5FB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240346-C6D3-43B8-B8D8-02816F4A6539}"/>
              </a:ext>
            </a:extLst>
          </p:cNvPr>
          <p:cNvSpPr>
            <a:spLocks noGrp="1"/>
          </p:cNvSpPr>
          <p:nvPr/>
        </p:nvSpPr>
        <p:spPr>
          <a:xfrm>
            <a:off x="590550" y="2343150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5E72E1-0B42-4078-AD66-7D955CA4BACD}"/>
              </a:ext>
            </a:extLst>
          </p:cNvPr>
          <p:cNvSpPr>
            <a:spLocks noGrp="1"/>
          </p:cNvSpPr>
          <p:nvPr/>
        </p:nvSpPr>
        <p:spPr>
          <a:xfrm>
            <a:off x="590550" y="2895600"/>
            <a:ext cx="15811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lnSpcReduction="10000"/>
          </a:bodyPr>
          <a:lstStyle/>
          <a:p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P100 requests toolhead</a:t>
            </a:r>
            <a:r>
              <a:rPr lang="en-US" sz="1425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</a:t>
            </a:r>
            <a:r>
              <a:rPr sz="1425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home</a:t>
            </a:r>
            <a:r>
              <a:rPr lang="en-US" sz="1425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handshake</a:t>
            </a:r>
            <a:endParaRPr sz="1425" b="1" dirty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DB266B-E58E-4FEC-AED4-C8DCB7452B96}"/>
              </a:ext>
            </a:extLst>
          </p:cNvPr>
          <p:cNvSpPr>
            <a:spLocks noGrp="1"/>
          </p:cNvSpPr>
          <p:nvPr/>
        </p:nvSpPr>
        <p:spPr>
          <a:xfrm>
            <a:off x="590550" y="3695700"/>
            <a:ext cx="1581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dirty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RP23CNC sends the existing GP28 request.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80339C-413C-465A-A28C-4EAB577535AB}"/>
              </a:ext>
            </a:extLst>
          </p:cNvPr>
          <p:cNvSpPr>
            <a:spLocks noGrp="1"/>
          </p:cNvSpPr>
          <p:nvPr/>
        </p:nvSpPr>
        <p:spPr>
          <a:xfrm>
            <a:off x="2390775" y="3057525"/>
            <a:ext cx="247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EDB9C1A-BFD5-4115-8348-68D6F324BDF9}"/>
              </a:ext>
            </a:extLst>
          </p:cNvPr>
          <p:cNvSpPr>
            <a:spLocks noGrp="1"/>
          </p:cNvSpPr>
          <p:nvPr/>
        </p:nvSpPr>
        <p:spPr>
          <a:xfrm>
            <a:off x="2667000" y="2152650"/>
            <a:ext cx="1962150" cy="2333625"/>
          </a:xfrm>
          <a:prstGeom prst="roundRect">
            <a:avLst>
              <a:gd name="adj" fmla="val 3883"/>
            </a:avLst>
          </a:prstGeom>
          <a:solidFill>
            <a:srgbClr val="EAF5FB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88250A-7295-4A91-A91D-8F397D11EEFD}"/>
              </a:ext>
            </a:extLst>
          </p:cNvPr>
          <p:cNvSpPr>
            <a:spLocks noGrp="1"/>
          </p:cNvSpPr>
          <p:nvPr/>
        </p:nvSpPr>
        <p:spPr>
          <a:xfrm>
            <a:off x="2857500" y="2343150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3F64C0-B836-48DF-932E-FE970397D325}"/>
              </a:ext>
            </a:extLst>
          </p:cNvPr>
          <p:cNvSpPr>
            <a:spLocks noGrp="1"/>
          </p:cNvSpPr>
          <p:nvPr/>
        </p:nvSpPr>
        <p:spPr>
          <a:xfrm>
            <a:off x="2857500" y="2895600"/>
            <a:ext cx="15811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lnSpcReduction="10000"/>
          </a:bodyPr>
          <a:lstStyle/>
          <a:p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 Micro verifies </a:t>
            </a:r>
            <a:r>
              <a:rPr lang="en-US" sz="1425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toolhead</a:t>
            </a:r>
            <a:r>
              <a:rPr sz="1425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switch</a:t>
            </a:r>
            <a:r>
              <a:rPr lang="en-US" sz="1425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trigger</a:t>
            </a:r>
            <a:endParaRPr sz="1425" b="1" dirty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8D26CB-876E-4885-B3E4-D9F2885E9A23}"/>
              </a:ext>
            </a:extLst>
          </p:cNvPr>
          <p:cNvSpPr>
            <a:spLocks noGrp="1"/>
          </p:cNvSpPr>
          <p:nvPr/>
        </p:nvSpPr>
        <p:spPr>
          <a:xfrm>
            <a:off x="2857500" y="3695700"/>
            <a:ext cx="1581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N20 retracts; the upper switch defines LIFT_HOME.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FAD071A-3445-4827-B7E0-542EA5C14503}"/>
              </a:ext>
            </a:extLst>
          </p:cNvPr>
          <p:cNvSpPr>
            <a:spLocks noGrp="1"/>
          </p:cNvSpPr>
          <p:nvPr/>
        </p:nvSpPr>
        <p:spPr>
          <a:xfrm>
            <a:off x="4657725" y="3057525"/>
            <a:ext cx="247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30357E7-35F5-4735-AC3B-0D52BCA51523}"/>
              </a:ext>
            </a:extLst>
          </p:cNvPr>
          <p:cNvSpPr>
            <a:spLocks noGrp="1"/>
          </p:cNvSpPr>
          <p:nvPr/>
        </p:nvSpPr>
        <p:spPr>
          <a:xfrm>
            <a:off x="4933950" y="2152650"/>
            <a:ext cx="1962150" cy="2333625"/>
          </a:xfrm>
          <a:prstGeom prst="roundRect">
            <a:avLst>
              <a:gd name="adj" fmla="val 3883"/>
            </a:avLst>
          </a:prstGeom>
          <a:solidFill>
            <a:srgbClr val="EAF5FB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A6E7461-5D7C-4460-92F0-E0F20009A801}"/>
              </a:ext>
            </a:extLst>
          </p:cNvPr>
          <p:cNvSpPr>
            <a:spLocks noGrp="1"/>
          </p:cNvSpPr>
          <p:nvPr/>
        </p:nvSpPr>
        <p:spPr>
          <a:xfrm>
            <a:off x="5124450" y="2343150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F225601-4ADE-4DAC-ADDA-C6A954CF3AEA}"/>
              </a:ext>
            </a:extLst>
          </p:cNvPr>
          <p:cNvSpPr>
            <a:spLocks noGrp="1"/>
          </p:cNvSpPr>
          <p:nvPr/>
        </p:nvSpPr>
        <p:spPr>
          <a:xfrm>
            <a:off x="5124450" y="2895600"/>
            <a:ext cx="15811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Toolhead replies “ready”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987FE05-9D36-421A-B6C2-FA2A9E28691A}"/>
              </a:ext>
            </a:extLst>
          </p:cNvPr>
          <p:cNvSpPr>
            <a:spLocks noGrp="1"/>
          </p:cNvSpPr>
          <p:nvPr/>
        </p:nvSpPr>
        <p:spPr>
          <a:xfrm>
            <a:off x="5124450" y="3695700"/>
            <a:ext cx="1581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Existing GP27 signals success; a timeout becomes a fault.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0A2D407-3A90-45E7-8201-FA3CC3A049C3}"/>
              </a:ext>
            </a:extLst>
          </p:cNvPr>
          <p:cNvSpPr>
            <a:spLocks noGrp="1"/>
          </p:cNvSpPr>
          <p:nvPr/>
        </p:nvSpPr>
        <p:spPr>
          <a:xfrm>
            <a:off x="6924675" y="3057525"/>
            <a:ext cx="247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C3299FD-E308-4785-96C4-5930CDCEF2F2}"/>
              </a:ext>
            </a:extLst>
          </p:cNvPr>
          <p:cNvSpPr>
            <a:spLocks noGrp="1"/>
          </p:cNvSpPr>
          <p:nvPr/>
        </p:nvSpPr>
        <p:spPr>
          <a:xfrm>
            <a:off x="7200900" y="2152650"/>
            <a:ext cx="1962150" cy="2333625"/>
          </a:xfrm>
          <a:prstGeom prst="roundRect">
            <a:avLst>
              <a:gd name="adj" fmla="val 3883"/>
            </a:avLst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302F5F3-25AB-4610-84D0-8993B5EC9745}"/>
              </a:ext>
            </a:extLst>
          </p:cNvPr>
          <p:cNvSpPr>
            <a:spLocks noGrp="1"/>
          </p:cNvSpPr>
          <p:nvPr/>
        </p:nvSpPr>
        <p:spPr>
          <a:xfrm>
            <a:off x="7391400" y="2343150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2F0F9C8-0841-4646-A9A1-82CEF9A226C7}"/>
              </a:ext>
            </a:extLst>
          </p:cNvPr>
          <p:cNvSpPr>
            <a:spLocks noGrp="1"/>
          </p:cNvSpPr>
          <p:nvPr/>
        </p:nvSpPr>
        <p:spPr>
          <a:xfrm>
            <a:off x="7391400" y="2895600"/>
            <a:ext cx="15811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RP23CNC homes X/Y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526FF82-5772-462D-A938-CCB197698E51}"/>
              </a:ext>
            </a:extLst>
          </p:cNvPr>
          <p:cNvSpPr>
            <a:spLocks noGrp="1"/>
          </p:cNvSpPr>
          <p:nvPr/>
        </p:nvSpPr>
        <p:spPr>
          <a:xfrm>
            <a:off x="7391400" y="3695700"/>
            <a:ext cx="1581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050" b="0" dirty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Physical switches</a:t>
            </a:r>
            <a:endParaRPr sz="1050" b="0" dirty="0">
              <a:solidFill>
                <a:srgbClr val="59616B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B102928-2AD5-45F8-9007-1EE97A046A27}"/>
              </a:ext>
            </a:extLst>
          </p:cNvPr>
          <p:cNvSpPr>
            <a:spLocks noGrp="1"/>
          </p:cNvSpPr>
          <p:nvPr/>
        </p:nvSpPr>
        <p:spPr>
          <a:xfrm>
            <a:off x="9191625" y="3057525"/>
            <a:ext cx="247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BC17A11-E073-49FA-9FD7-611588801019}"/>
              </a:ext>
            </a:extLst>
          </p:cNvPr>
          <p:cNvSpPr>
            <a:spLocks noGrp="1"/>
          </p:cNvSpPr>
          <p:nvPr/>
        </p:nvSpPr>
        <p:spPr>
          <a:xfrm>
            <a:off x="9467850" y="2152650"/>
            <a:ext cx="1962150" cy="2333625"/>
          </a:xfrm>
          <a:prstGeom prst="roundRect">
            <a:avLst>
              <a:gd name="adj" fmla="val 3883"/>
            </a:avLst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F2610C8-F5CA-4D3B-8BB2-DDCA99429F1B}"/>
              </a:ext>
            </a:extLst>
          </p:cNvPr>
          <p:cNvSpPr>
            <a:spLocks noGrp="1"/>
          </p:cNvSpPr>
          <p:nvPr/>
        </p:nvSpPr>
        <p:spPr>
          <a:xfrm>
            <a:off x="9658350" y="2343150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7FFB761-26BD-4AAA-BE70-2CAC8F99DF05}"/>
              </a:ext>
            </a:extLst>
          </p:cNvPr>
          <p:cNvSpPr>
            <a:spLocks noGrp="1"/>
          </p:cNvSpPr>
          <p:nvPr/>
        </p:nvSpPr>
        <p:spPr>
          <a:xfrm>
            <a:off x="9658350" y="2895600"/>
            <a:ext cx="15811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Magnetic scan </a:t>
            </a:r>
            <a:r>
              <a:rPr sz="1425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registers </a:t>
            </a:r>
            <a:r>
              <a:rPr sz="1425" u="sng" dirty="0">
                <a:solidFill>
                  <a:schemeClr val="accent5"/>
                </a:solidFill>
                <a:latin typeface="Helvetica Neue"/>
                <a:ea typeface="Helvetica Neue"/>
                <a:cs typeface="Helvetica Neue"/>
              </a:rPr>
              <a:t>G54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AA9AE5D-2A21-43EA-8061-0C5E31006C5B}"/>
              </a:ext>
            </a:extLst>
          </p:cNvPr>
          <p:cNvSpPr>
            <a:spLocks noGrp="1"/>
          </p:cNvSpPr>
          <p:nvPr/>
        </p:nvSpPr>
        <p:spPr>
          <a:xfrm>
            <a:off x="9658350" y="3695700"/>
            <a:ext cx="1581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5000" lnSpcReduction="10000"/>
          </a:bodyPr>
          <a:lstStyle/>
          <a:p>
            <a:pPr marL="171450" indent="-171450" algn="l">
              <a:buFont typeface="Arial" panose="020B0604020202020204" pitchFamily="34" charset="0"/>
              <a:buChar char="•"/>
              <a:defRPr sz="10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dirty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Center </a:t>
            </a:r>
            <a:r>
              <a:rPr lang="en-US" sz="1050" b="0" dirty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point </a:t>
            </a:r>
            <a:r>
              <a:rPr sz="1050" b="0" dirty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magnet sets X/Y zero</a:t>
            </a:r>
            <a:endParaRPr lang="en-US" sz="1050" b="0" dirty="0">
              <a:solidFill>
                <a:srgbClr val="59616B"/>
              </a:solidFill>
              <a:latin typeface="Helvetica Neue"/>
              <a:ea typeface="Helvetica Neue"/>
              <a:cs typeface="Helvetica Neue"/>
            </a:endParaRPr>
          </a:p>
          <a:p>
            <a:pPr marL="171450" indent="-171450" algn="l">
              <a:buFont typeface="Arial" panose="020B0604020202020204" pitchFamily="34" charset="0"/>
              <a:buChar char="•"/>
              <a:defRPr sz="10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endParaRPr lang="en-US" sz="1050" b="0" dirty="0">
              <a:solidFill>
                <a:srgbClr val="59616B"/>
              </a:solidFill>
              <a:latin typeface="Helvetica Neue"/>
              <a:ea typeface="Helvetica Neue"/>
              <a:cs typeface="Helvetica Neue"/>
            </a:endParaRPr>
          </a:p>
          <a:p>
            <a:pPr marL="171450" indent="-171450" algn="l">
              <a:buFont typeface="Arial" panose="020B0604020202020204" pitchFamily="34" charset="0"/>
              <a:buChar char="•"/>
              <a:defRPr sz="105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dirty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outer magnet sets A zero.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092802A-ED6E-4147-8DF0-3901FAE442E5}"/>
              </a:ext>
            </a:extLst>
          </p:cNvPr>
          <p:cNvSpPr>
            <a:spLocks noGrp="1"/>
          </p:cNvSpPr>
          <p:nvPr/>
        </p:nvSpPr>
        <p:spPr>
          <a:xfrm>
            <a:off x="400050" y="5219700"/>
            <a:ext cx="10763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</a:t>
            </a:r>
            <a:r>
              <a:rPr lang="en-US" sz="165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toolhead</a:t>
            </a:r>
            <a:r>
              <a:rPr sz="165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switch remains local to the Pro Micro; the existing GP28/GP27 pair lets P100 receive the result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F8448AA-4359-B31A-D018-913CC057850F}"/>
              </a:ext>
            </a:extLst>
          </p:cNvPr>
          <p:cNvSpPr txBox="1"/>
          <p:nvPr/>
        </p:nvSpPr>
        <p:spPr>
          <a:xfrm>
            <a:off x="1806432" y="1529834"/>
            <a:ext cx="2851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Retraction for homing safety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150B545-5BB1-6DB4-0EEA-697E1F1443F3}"/>
              </a:ext>
            </a:extLst>
          </p:cNvPr>
          <p:cNvCxnSpPr>
            <a:cxnSpLocks/>
          </p:cNvCxnSpPr>
          <p:nvPr/>
        </p:nvCxnSpPr>
        <p:spPr>
          <a:xfrm flipV="1">
            <a:off x="4743721" y="1690640"/>
            <a:ext cx="2168381" cy="73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6FCADC0-5654-4E93-1657-93BAB4723A48}"/>
              </a:ext>
            </a:extLst>
          </p:cNvPr>
          <p:cNvCxnSpPr>
            <a:cxnSpLocks/>
          </p:cNvCxnSpPr>
          <p:nvPr/>
        </p:nvCxnSpPr>
        <p:spPr>
          <a:xfrm>
            <a:off x="6912102" y="1698022"/>
            <a:ext cx="0" cy="2590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3E97018-D995-BFAC-FFD4-A5BEBC26D80E}"/>
              </a:ext>
            </a:extLst>
          </p:cNvPr>
          <p:cNvCxnSpPr>
            <a:cxnSpLocks/>
          </p:cNvCxnSpPr>
          <p:nvPr/>
        </p:nvCxnSpPr>
        <p:spPr>
          <a:xfrm>
            <a:off x="400050" y="1723596"/>
            <a:ext cx="12702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FF2B51B-C2CD-1576-F4FC-4CB2F05CE345}"/>
              </a:ext>
            </a:extLst>
          </p:cNvPr>
          <p:cNvCxnSpPr>
            <a:cxnSpLocks/>
          </p:cNvCxnSpPr>
          <p:nvPr/>
        </p:nvCxnSpPr>
        <p:spPr>
          <a:xfrm>
            <a:off x="408677" y="1723596"/>
            <a:ext cx="0" cy="2711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C3B43731-0EAC-8ECF-506B-10684FDD9E59}"/>
              </a:ext>
            </a:extLst>
          </p:cNvPr>
          <p:cNvSpPr txBox="1"/>
          <p:nvPr/>
        </p:nvSpPr>
        <p:spPr>
          <a:xfrm>
            <a:off x="8134215" y="1513356"/>
            <a:ext cx="1990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Homing movement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E0831D1-1A38-C718-097D-F2CD31D8710B}"/>
              </a:ext>
            </a:extLst>
          </p:cNvPr>
          <p:cNvCxnSpPr>
            <a:cxnSpLocks/>
          </p:cNvCxnSpPr>
          <p:nvPr/>
        </p:nvCxnSpPr>
        <p:spPr>
          <a:xfrm flipV="1">
            <a:off x="10437495" y="1723596"/>
            <a:ext cx="953262" cy="73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BCA5D0D-8FF0-5B47-8687-B0D89B114034}"/>
              </a:ext>
            </a:extLst>
          </p:cNvPr>
          <p:cNvCxnSpPr>
            <a:cxnSpLocks/>
          </p:cNvCxnSpPr>
          <p:nvPr/>
        </p:nvCxnSpPr>
        <p:spPr>
          <a:xfrm>
            <a:off x="11390757" y="1730978"/>
            <a:ext cx="0" cy="2590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B3704061-CFD3-EBA2-CD2B-EF2791C19BDF}"/>
              </a:ext>
            </a:extLst>
          </p:cNvPr>
          <p:cNvCxnSpPr>
            <a:cxnSpLocks/>
          </p:cNvCxnSpPr>
          <p:nvPr/>
        </p:nvCxnSpPr>
        <p:spPr>
          <a:xfrm>
            <a:off x="7172325" y="1698022"/>
            <a:ext cx="6800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0FF96DF-98E3-1ED3-1587-9A9003D7163F}"/>
              </a:ext>
            </a:extLst>
          </p:cNvPr>
          <p:cNvCxnSpPr>
            <a:cxnSpLocks/>
          </p:cNvCxnSpPr>
          <p:nvPr/>
        </p:nvCxnSpPr>
        <p:spPr>
          <a:xfrm>
            <a:off x="7180952" y="1698022"/>
            <a:ext cx="0" cy="2711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2565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100 Detail 1">
    <p:bg>
      <p:bgPr>
        <a:solidFill>
          <a:srgbClr val="141A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-1" y="-1"/>
            <a:ext cx="9753600" cy="6858000"/>
          </a:xfrm>
          <a:prstGeom prst="rect">
            <a:avLst/>
          </a:prstGeom>
        </p:spPr>
      </p:pic>
      <p:sp>
        <p:nvSpPr>
          <p:cNvPr id="6" name="P100 Step 1 Highlight">
            <a:extLst>
              <a:ext uri="{FF2B5EF4-FFF2-40B4-BE49-F238E27FC236}">
                <a16:creationId xmlns:a16="http://schemas.microsoft.com/office/drawing/2014/main" id="{6A36448E-C653-4D8E-0806-2D059D88EE85}"/>
              </a:ext>
            </a:extLst>
          </p:cNvPr>
          <p:cNvSpPr/>
          <p:nvPr/>
        </p:nvSpPr>
        <p:spPr>
          <a:xfrm>
            <a:off x="964194" y="1616044"/>
            <a:ext cx="4639681" cy="669956"/>
          </a:xfrm>
          <a:prstGeom prst="rect">
            <a:avLst/>
          </a:prstGeom>
          <a:solidFill>
            <a:schemeClr val="accent1">
              <a:alpha val="0"/>
            </a:schemeClr>
          </a:solidFill>
          <a:ln w="31750">
            <a:solidFill>
              <a:srgbClr val="32C2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66"/>
          </a:p>
        </p:txBody>
      </p:sp>
      <p:sp>
        <p:nvSpPr>
          <p:cNvPr id="13" name="P100 Step 1 Hit Area">
            <a:hlinkClick r:id="rId4" action="ppaction://hlinksldjump"/>
            <a:hlinkHover r:id="rId4" action="ppaction://hlinksldjump"/>
            <a:extLst>
              <a:ext uri="{FF2B5EF4-FFF2-40B4-BE49-F238E27FC236}">
                <a16:creationId xmlns:a16="http://schemas.microsoft.com/office/drawing/2014/main" id="{247DC19F-CC0E-3DBD-AAFE-5BFC1F4C765F}"/>
              </a:ext>
            </a:extLst>
          </p:cNvPr>
          <p:cNvSpPr/>
          <p:nvPr/>
        </p:nvSpPr>
        <p:spPr>
          <a:xfrm>
            <a:off x="964194" y="1616044"/>
            <a:ext cx="4617267" cy="570368"/>
          </a:xfrm>
          <a:prstGeom prst="rect">
            <a:avLst/>
          </a:prstGeom>
          <a:solidFill>
            <a:schemeClr val="accent1">
              <a:alpha val="0"/>
            </a:scheme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66"/>
          </a:p>
        </p:txBody>
      </p:sp>
      <p:sp>
        <p:nvSpPr>
          <p:cNvPr id="14" name="P100 Step 2 Hit Area">
            <a:hlinkClick r:id="rId5" action="ppaction://hlinksldjump"/>
            <a:hlinkHover r:id="rId5" action="ppaction://hlinksldjump"/>
            <a:extLst>
              <a:ext uri="{FF2B5EF4-FFF2-40B4-BE49-F238E27FC236}">
                <a16:creationId xmlns:a16="http://schemas.microsoft.com/office/drawing/2014/main" id="{CCD6C85B-BC61-1159-A9EB-4DEE90BE5A82}"/>
              </a:ext>
            </a:extLst>
          </p:cNvPr>
          <p:cNvSpPr/>
          <p:nvPr/>
        </p:nvSpPr>
        <p:spPr>
          <a:xfrm>
            <a:off x="964194" y="2458016"/>
            <a:ext cx="4617267" cy="570368"/>
          </a:xfrm>
          <a:prstGeom prst="rect">
            <a:avLst/>
          </a:prstGeom>
          <a:solidFill>
            <a:schemeClr val="accent1">
              <a:alpha val="0"/>
            </a:scheme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66"/>
          </a:p>
        </p:txBody>
      </p:sp>
      <p:sp>
        <p:nvSpPr>
          <p:cNvPr id="15" name="P100 Step 3 Hit Area">
            <a:hlinkClick r:id="rId6" action="ppaction://hlinksldjump"/>
            <a:hlinkHover r:id="rId6" action="ppaction://hlinksldjump"/>
            <a:extLst>
              <a:ext uri="{FF2B5EF4-FFF2-40B4-BE49-F238E27FC236}">
                <a16:creationId xmlns:a16="http://schemas.microsoft.com/office/drawing/2014/main" id="{DD9F42D5-7100-B65D-B3A2-9FC45CCA3778}"/>
              </a:ext>
            </a:extLst>
          </p:cNvPr>
          <p:cNvSpPr/>
          <p:nvPr/>
        </p:nvSpPr>
        <p:spPr>
          <a:xfrm>
            <a:off x="964194" y="3299988"/>
            <a:ext cx="4617267" cy="570368"/>
          </a:xfrm>
          <a:prstGeom prst="rect">
            <a:avLst/>
          </a:prstGeom>
          <a:solidFill>
            <a:schemeClr val="accent1">
              <a:alpha val="0"/>
            </a:scheme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66"/>
          </a:p>
        </p:txBody>
      </p:sp>
      <p:sp>
        <p:nvSpPr>
          <p:cNvPr id="17" name="P100 Step 4 Hit Area">
            <a:hlinkClick r:id="rId7" action="ppaction://hlinksldjump"/>
            <a:hlinkHover r:id="rId7" action="ppaction://hlinksldjump"/>
            <a:extLst>
              <a:ext uri="{FF2B5EF4-FFF2-40B4-BE49-F238E27FC236}">
                <a16:creationId xmlns:a16="http://schemas.microsoft.com/office/drawing/2014/main" id="{18B61BF8-E517-5508-FEBA-A73673F0BD60}"/>
              </a:ext>
            </a:extLst>
          </p:cNvPr>
          <p:cNvSpPr/>
          <p:nvPr/>
        </p:nvSpPr>
        <p:spPr>
          <a:xfrm>
            <a:off x="964194" y="4141960"/>
            <a:ext cx="4617267" cy="570368"/>
          </a:xfrm>
          <a:prstGeom prst="rect">
            <a:avLst/>
          </a:prstGeom>
          <a:solidFill>
            <a:schemeClr val="accent1">
              <a:alpha val="0"/>
            </a:scheme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66"/>
          </a:p>
        </p:txBody>
      </p:sp>
      <p:sp>
        <p:nvSpPr>
          <p:cNvPr id="18" name="P100 Step 5 Hit Area">
            <a:hlinkClick r:id="rId8" action="ppaction://hlinksldjump"/>
            <a:hlinkHover r:id="rId8" action="ppaction://hlinksldjump"/>
            <a:extLst>
              <a:ext uri="{FF2B5EF4-FFF2-40B4-BE49-F238E27FC236}">
                <a16:creationId xmlns:a16="http://schemas.microsoft.com/office/drawing/2014/main" id="{D99E561C-28CC-633F-4985-D2725AA35AFE}"/>
              </a:ext>
            </a:extLst>
          </p:cNvPr>
          <p:cNvSpPr/>
          <p:nvPr/>
        </p:nvSpPr>
        <p:spPr>
          <a:xfrm>
            <a:off x="964194" y="4983933"/>
            <a:ext cx="4617267" cy="570368"/>
          </a:xfrm>
          <a:prstGeom prst="rect">
            <a:avLst/>
          </a:prstGeom>
          <a:solidFill>
            <a:schemeClr val="accent1">
              <a:alpha val="0"/>
            </a:scheme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66"/>
          </a:p>
        </p:txBody>
      </p:sp>
      <p:sp>
        <p:nvSpPr>
          <p:cNvPr id="19" name="P100 Step 6 Hit Area">
            <a:hlinkClick r:id="rId9" action="ppaction://hlinksldjump"/>
            <a:hlinkHover r:id="rId9" action="ppaction://hlinksldjump"/>
            <a:extLst>
              <a:ext uri="{FF2B5EF4-FFF2-40B4-BE49-F238E27FC236}">
                <a16:creationId xmlns:a16="http://schemas.microsoft.com/office/drawing/2014/main" id="{68401CD9-C7D3-3F82-3702-682FA40087B9}"/>
              </a:ext>
            </a:extLst>
          </p:cNvPr>
          <p:cNvSpPr/>
          <p:nvPr/>
        </p:nvSpPr>
        <p:spPr>
          <a:xfrm>
            <a:off x="964194" y="5825905"/>
            <a:ext cx="4617267" cy="570368"/>
          </a:xfrm>
          <a:prstGeom prst="rect">
            <a:avLst/>
          </a:prstGeom>
          <a:solidFill>
            <a:schemeClr val="accent1">
              <a:alpha val="0"/>
            </a:scheme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66"/>
          </a:p>
        </p:txBody>
      </p:sp>
      <p:sp>
        <p:nvSpPr>
          <p:cNvPr id="20" name="Matching P100 Map Detail Background">
            <a:extLst>
              <a:ext uri="{FF2B5EF4-FFF2-40B4-BE49-F238E27FC236}">
                <a16:creationId xmlns:a16="http://schemas.microsoft.com/office/drawing/2014/main" id="{5CEF202E-B754-A271-22D6-351167702F2F}"/>
              </a:ext>
            </a:extLst>
          </p:cNvPr>
          <p:cNvSpPr/>
          <p:nvPr/>
        </p:nvSpPr>
        <p:spPr>
          <a:xfrm>
            <a:off x="5703683" y="1670364"/>
            <a:ext cx="3078178" cy="2245259"/>
          </a:xfrm>
          <a:prstGeom prst="rect">
            <a:avLst/>
          </a:prstGeom>
          <a:solidFill>
            <a:srgbClr val="2B251F"/>
          </a:solidFill>
          <a:ln w="8890">
            <a:solidFill>
              <a:srgbClr val="6E60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66"/>
          </a:p>
        </p:txBody>
      </p:sp>
      <p:sp>
        <p:nvSpPr>
          <p:cNvPr id="21" name="Matching P100 Map Detail Title">
            <a:extLst>
              <a:ext uri="{FF2B5EF4-FFF2-40B4-BE49-F238E27FC236}">
                <a16:creationId xmlns:a16="http://schemas.microsoft.com/office/drawing/2014/main" id="{AD756550-ED54-A3C6-39A3-0CF332046ED4}"/>
              </a:ext>
            </a:extLst>
          </p:cNvPr>
          <p:cNvSpPr txBox="1"/>
          <p:nvPr/>
        </p:nvSpPr>
        <p:spPr>
          <a:xfrm>
            <a:off x="5866645" y="1833327"/>
            <a:ext cx="2752254" cy="164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69" b="1">
                <a:solidFill>
                  <a:srgbClr val="FFCC66"/>
                </a:solidFill>
                <a:latin typeface="Aptos" panose="020B0004020202020204" pitchFamily="34" charset="0"/>
              </a:rPr>
              <a:t>1. Start command</a:t>
            </a:r>
          </a:p>
        </p:txBody>
      </p:sp>
      <p:sp>
        <p:nvSpPr>
          <p:cNvPr id="22" name="Matching P100 Map Detail Body">
            <a:extLst>
              <a:ext uri="{FF2B5EF4-FFF2-40B4-BE49-F238E27FC236}">
                <a16:creationId xmlns:a16="http://schemas.microsoft.com/office/drawing/2014/main" id="{8B807CB2-EC82-3A18-09AF-01ADA23DEF0C}"/>
              </a:ext>
            </a:extLst>
          </p:cNvPr>
          <p:cNvSpPr txBox="1"/>
          <p:nvPr/>
        </p:nvSpPr>
        <p:spPr>
          <a:xfrm>
            <a:off x="5866645" y="2123037"/>
            <a:ext cx="2752254" cy="126377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12">
                <a:solidFill>
                  <a:srgbClr val="F7F4F0"/>
                </a:solidFill>
                <a:latin typeface="Aptos" panose="020B0004020202020204" pitchFamily="34" charset="0"/>
              </a:rPr>
              <a:t>Command
ioSender → RP23CNC: G65 P100 Q0
Decision owner
RP23CNC / grblHAL starts P100 locally.
Not moved
HX711 force samples stay inside the Pro Micro toolhead.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16DD1D0-BEA0-D332-CFD5-B00421FA296E}"/>
              </a:ext>
            </a:extLst>
          </p:cNvPr>
          <p:cNvCxnSpPr>
            <a:cxnSpLocks/>
          </p:cNvCxnSpPr>
          <p:nvPr/>
        </p:nvCxnSpPr>
        <p:spPr>
          <a:xfrm>
            <a:off x="357051" y="2386149"/>
            <a:ext cx="452846" cy="32989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B403B31-6BF3-FCB4-D7AB-1F7764CC148C}"/>
              </a:ext>
            </a:extLst>
          </p:cNvPr>
          <p:cNvCxnSpPr/>
          <p:nvPr/>
        </p:nvCxnSpPr>
        <p:spPr>
          <a:xfrm flipV="1">
            <a:off x="357051" y="1997881"/>
            <a:ext cx="452846" cy="28811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0E9E229-D614-79E7-3D4C-14C2FC459731}"/>
              </a:ext>
            </a:extLst>
          </p:cNvPr>
          <p:cNvSpPr txBox="1"/>
          <p:nvPr/>
        </p:nvSpPr>
        <p:spPr>
          <a:xfrm>
            <a:off x="55365" y="21361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A65842C-9EF1-966E-E814-3E2060D884F7}"/>
              </a:ext>
            </a:extLst>
          </p:cNvPr>
          <p:cNvCxnSpPr>
            <a:cxnSpLocks/>
          </p:cNvCxnSpPr>
          <p:nvPr/>
        </p:nvCxnSpPr>
        <p:spPr>
          <a:xfrm>
            <a:off x="357051" y="3979750"/>
            <a:ext cx="452846" cy="32989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3959D86-2DF9-1051-0AFB-0DB938EA3FEF}"/>
              </a:ext>
            </a:extLst>
          </p:cNvPr>
          <p:cNvCxnSpPr/>
          <p:nvPr/>
        </p:nvCxnSpPr>
        <p:spPr>
          <a:xfrm flipV="1">
            <a:off x="357051" y="3591482"/>
            <a:ext cx="452846" cy="28811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BE088C8-4127-A61F-2B98-4D26B229F2C8}"/>
              </a:ext>
            </a:extLst>
          </p:cNvPr>
          <p:cNvSpPr txBox="1"/>
          <p:nvPr/>
        </p:nvSpPr>
        <p:spPr>
          <a:xfrm>
            <a:off x="55365" y="37297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4FFF2CC-27DA-77FB-D1EE-0815F0897EC4}"/>
              </a:ext>
            </a:extLst>
          </p:cNvPr>
          <p:cNvCxnSpPr>
            <a:cxnSpLocks/>
          </p:cNvCxnSpPr>
          <p:nvPr/>
        </p:nvCxnSpPr>
        <p:spPr>
          <a:xfrm>
            <a:off x="357051" y="5660959"/>
            <a:ext cx="452846" cy="32989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E33EDF5-10F3-BD89-436D-681A89509856}"/>
              </a:ext>
            </a:extLst>
          </p:cNvPr>
          <p:cNvCxnSpPr/>
          <p:nvPr/>
        </p:nvCxnSpPr>
        <p:spPr>
          <a:xfrm flipV="1">
            <a:off x="357051" y="5272691"/>
            <a:ext cx="452846" cy="28811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A5E2A42-B531-AA6E-D889-E80F81135C2D}"/>
              </a:ext>
            </a:extLst>
          </p:cNvPr>
          <p:cNvSpPr txBox="1"/>
          <p:nvPr/>
        </p:nvSpPr>
        <p:spPr>
          <a:xfrm>
            <a:off x="55365" y="541100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18475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100 Detail 2">
    <p:bg>
      <p:bgPr>
        <a:solidFill>
          <a:srgbClr val="141A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-1" y="-1"/>
            <a:ext cx="9753600" cy="6858000"/>
          </a:xfrm>
          <a:prstGeom prst="rect">
            <a:avLst/>
          </a:prstGeom>
        </p:spPr>
      </p:pic>
      <p:sp>
        <p:nvSpPr>
          <p:cNvPr id="6" name="P100 Step 2 Highlight">
            <a:extLst>
              <a:ext uri="{FF2B5EF4-FFF2-40B4-BE49-F238E27FC236}">
                <a16:creationId xmlns:a16="http://schemas.microsoft.com/office/drawing/2014/main" id="{20F7847D-8C3F-85E8-5D10-102892423AFE}"/>
              </a:ext>
            </a:extLst>
          </p:cNvPr>
          <p:cNvSpPr/>
          <p:nvPr/>
        </p:nvSpPr>
        <p:spPr>
          <a:xfrm>
            <a:off x="964194" y="2458016"/>
            <a:ext cx="4617267" cy="570368"/>
          </a:xfrm>
          <a:prstGeom prst="rect">
            <a:avLst/>
          </a:prstGeom>
          <a:solidFill>
            <a:schemeClr val="accent1">
              <a:alpha val="0"/>
            </a:schemeClr>
          </a:solidFill>
          <a:ln w="31750">
            <a:solidFill>
              <a:srgbClr val="32C2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66"/>
          </a:p>
        </p:txBody>
      </p:sp>
      <p:sp>
        <p:nvSpPr>
          <p:cNvPr id="13" name="P100 Step 1 Hit Area">
            <a:hlinkClick r:id="rId4" action="ppaction://hlinksldjump"/>
            <a:hlinkHover r:id="rId4" action="ppaction://hlinksldjump"/>
            <a:extLst>
              <a:ext uri="{FF2B5EF4-FFF2-40B4-BE49-F238E27FC236}">
                <a16:creationId xmlns:a16="http://schemas.microsoft.com/office/drawing/2014/main" id="{FB3E871B-5449-B11D-191B-9BCE52C1BC26}"/>
              </a:ext>
            </a:extLst>
          </p:cNvPr>
          <p:cNvSpPr/>
          <p:nvPr/>
        </p:nvSpPr>
        <p:spPr>
          <a:xfrm>
            <a:off x="964194" y="1616044"/>
            <a:ext cx="4617267" cy="570368"/>
          </a:xfrm>
          <a:prstGeom prst="rect">
            <a:avLst/>
          </a:prstGeom>
          <a:solidFill>
            <a:schemeClr val="accent1">
              <a:alpha val="0"/>
            </a:scheme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66"/>
          </a:p>
        </p:txBody>
      </p:sp>
      <p:sp>
        <p:nvSpPr>
          <p:cNvPr id="14" name="P100 Step 2 Hit Area">
            <a:hlinkClick r:id="rId5" action="ppaction://hlinksldjump"/>
            <a:hlinkHover r:id="rId5" action="ppaction://hlinksldjump"/>
            <a:extLst>
              <a:ext uri="{FF2B5EF4-FFF2-40B4-BE49-F238E27FC236}">
                <a16:creationId xmlns:a16="http://schemas.microsoft.com/office/drawing/2014/main" id="{69B28F5D-9DBA-B653-FEC4-93D4B11BBA08}"/>
              </a:ext>
            </a:extLst>
          </p:cNvPr>
          <p:cNvSpPr/>
          <p:nvPr/>
        </p:nvSpPr>
        <p:spPr>
          <a:xfrm>
            <a:off x="964194" y="2458016"/>
            <a:ext cx="4617267" cy="570368"/>
          </a:xfrm>
          <a:prstGeom prst="rect">
            <a:avLst/>
          </a:prstGeom>
          <a:solidFill>
            <a:schemeClr val="accent1">
              <a:alpha val="0"/>
            </a:scheme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66"/>
          </a:p>
        </p:txBody>
      </p:sp>
      <p:sp>
        <p:nvSpPr>
          <p:cNvPr id="15" name="P100 Step 3 Hit Area">
            <a:hlinkClick r:id="rId6" action="ppaction://hlinksldjump"/>
            <a:hlinkHover r:id="rId6" action="ppaction://hlinksldjump"/>
            <a:extLst>
              <a:ext uri="{FF2B5EF4-FFF2-40B4-BE49-F238E27FC236}">
                <a16:creationId xmlns:a16="http://schemas.microsoft.com/office/drawing/2014/main" id="{A64CB45D-EBD0-3491-7A52-C2392361F9C3}"/>
              </a:ext>
            </a:extLst>
          </p:cNvPr>
          <p:cNvSpPr/>
          <p:nvPr/>
        </p:nvSpPr>
        <p:spPr>
          <a:xfrm>
            <a:off x="964194" y="3299988"/>
            <a:ext cx="4617267" cy="570368"/>
          </a:xfrm>
          <a:prstGeom prst="rect">
            <a:avLst/>
          </a:prstGeom>
          <a:solidFill>
            <a:schemeClr val="accent1">
              <a:alpha val="0"/>
            </a:scheme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66"/>
          </a:p>
        </p:txBody>
      </p:sp>
      <p:sp>
        <p:nvSpPr>
          <p:cNvPr id="17" name="P100 Step 4 Hit Area">
            <a:hlinkClick r:id="rId7" action="ppaction://hlinksldjump"/>
            <a:hlinkHover r:id="rId7" action="ppaction://hlinksldjump"/>
            <a:extLst>
              <a:ext uri="{FF2B5EF4-FFF2-40B4-BE49-F238E27FC236}">
                <a16:creationId xmlns:a16="http://schemas.microsoft.com/office/drawing/2014/main" id="{03E1BE0F-05DC-6A92-6ABD-AEDDCFD725BD}"/>
              </a:ext>
            </a:extLst>
          </p:cNvPr>
          <p:cNvSpPr/>
          <p:nvPr/>
        </p:nvSpPr>
        <p:spPr>
          <a:xfrm>
            <a:off x="964194" y="4141960"/>
            <a:ext cx="4617267" cy="570368"/>
          </a:xfrm>
          <a:prstGeom prst="rect">
            <a:avLst/>
          </a:prstGeom>
          <a:solidFill>
            <a:schemeClr val="accent1">
              <a:alpha val="0"/>
            </a:scheme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66"/>
          </a:p>
        </p:txBody>
      </p:sp>
      <p:sp>
        <p:nvSpPr>
          <p:cNvPr id="18" name="P100 Step 5 Hit Area">
            <a:hlinkClick r:id="rId8" action="ppaction://hlinksldjump"/>
            <a:hlinkHover r:id="rId8" action="ppaction://hlinksldjump"/>
            <a:extLst>
              <a:ext uri="{FF2B5EF4-FFF2-40B4-BE49-F238E27FC236}">
                <a16:creationId xmlns:a16="http://schemas.microsoft.com/office/drawing/2014/main" id="{13BEC0F0-DC05-D29D-C036-21F0ED96E4B0}"/>
              </a:ext>
            </a:extLst>
          </p:cNvPr>
          <p:cNvSpPr/>
          <p:nvPr/>
        </p:nvSpPr>
        <p:spPr>
          <a:xfrm>
            <a:off x="964194" y="4983933"/>
            <a:ext cx="4617267" cy="570368"/>
          </a:xfrm>
          <a:prstGeom prst="rect">
            <a:avLst/>
          </a:prstGeom>
          <a:solidFill>
            <a:schemeClr val="accent1">
              <a:alpha val="0"/>
            </a:scheme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66"/>
          </a:p>
        </p:txBody>
      </p:sp>
      <p:sp>
        <p:nvSpPr>
          <p:cNvPr id="19" name="P100 Step 6 Hit Area">
            <a:hlinkClick r:id="rId9" action="ppaction://hlinksldjump"/>
            <a:hlinkHover r:id="rId9" action="ppaction://hlinksldjump"/>
            <a:extLst>
              <a:ext uri="{FF2B5EF4-FFF2-40B4-BE49-F238E27FC236}">
                <a16:creationId xmlns:a16="http://schemas.microsoft.com/office/drawing/2014/main" id="{68E6EFC2-E3EF-CFBF-6F39-43890952236E}"/>
              </a:ext>
            </a:extLst>
          </p:cNvPr>
          <p:cNvSpPr/>
          <p:nvPr/>
        </p:nvSpPr>
        <p:spPr>
          <a:xfrm>
            <a:off x="964194" y="5825905"/>
            <a:ext cx="4617267" cy="570368"/>
          </a:xfrm>
          <a:prstGeom prst="rect">
            <a:avLst/>
          </a:prstGeom>
          <a:solidFill>
            <a:schemeClr val="accent1">
              <a:alpha val="0"/>
            </a:scheme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66"/>
          </a:p>
        </p:txBody>
      </p:sp>
      <p:sp>
        <p:nvSpPr>
          <p:cNvPr id="20" name="Matching P100 Map Detail Background">
            <a:extLst>
              <a:ext uri="{FF2B5EF4-FFF2-40B4-BE49-F238E27FC236}">
                <a16:creationId xmlns:a16="http://schemas.microsoft.com/office/drawing/2014/main" id="{DB4135CC-F384-E5B7-5CBA-F519475E9B21}"/>
              </a:ext>
            </a:extLst>
          </p:cNvPr>
          <p:cNvSpPr/>
          <p:nvPr/>
        </p:nvSpPr>
        <p:spPr>
          <a:xfrm>
            <a:off x="5703683" y="1670364"/>
            <a:ext cx="3078178" cy="2245259"/>
          </a:xfrm>
          <a:prstGeom prst="rect">
            <a:avLst/>
          </a:prstGeom>
          <a:solidFill>
            <a:srgbClr val="2B251F"/>
          </a:solidFill>
          <a:ln w="8890">
            <a:solidFill>
              <a:srgbClr val="6E60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66"/>
          </a:p>
        </p:txBody>
      </p:sp>
      <p:sp>
        <p:nvSpPr>
          <p:cNvPr id="21" name="Matching P100 Map Detail Title">
            <a:extLst>
              <a:ext uri="{FF2B5EF4-FFF2-40B4-BE49-F238E27FC236}">
                <a16:creationId xmlns:a16="http://schemas.microsoft.com/office/drawing/2014/main" id="{8344B0EB-E729-240C-B272-5DC27A7A0657}"/>
              </a:ext>
            </a:extLst>
          </p:cNvPr>
          <p:cNvSpPr txBox="1"/>
          <p:nvPr/>
        </p:nvSpPr>
        <p:spPr>
          <a:xfrm>
            <a:off x="5866645" y="1833327"/>
            <a:ext cx="2752254" cy="164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69" b="1">
                <a:solidFill>
                  <a:srgbClr val="FFCC66"/>
                </a:solidFill>
                <a:latin typeface="Aptos" panose="020B0004020202020204" pitchFamily="34" charset="0"/>
              </a:rPr>
              <a:t>2. Toolhead home</a:t>
            </a:r>
          </a:p>
        </p:txBody>
      </p:sp>
      <p:sp>
        <p:nvSpPr>
          <p:cNvPr id="22" name="Matching P100 Map Detail Body">
            <a:extLst>
              <a:ext uri="{FF2B5EF4-FFF2-40B4-BE49-F238E27FC236}">
                <a16:creationId xmlns:a16="http://schemas.microsoft.com/office/drawing/2014/main" id="{8382FCCD-CCED-A0F4-474A-19C33B23658D}"/>
              </a:ext>
            </a:extLst>
          </p:cNvPr>
          <p:cNvSpPr txBox="1"/>
          <p:nvPr/>
        </p:nvSpPr>
        <p:spPr>
          <a:xfrm>
            <a:off x="5866645" y="2123038"/>
            <a:ext cx="2752254" cy="11233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12">
                <a:solidFill>
                  <a:srgbClr val="F7F4F0"/>
                </a:solidFill>
                <a:latin typeface="Aptos" panose="020B0004020202020204" pitchFamily="34" charset="0"/>
              </a:rPr>
              <a:t>Request
P100 asserts GP28.
Pro Micro action
N20 retracts until GP2 confirms LIFT_HOME.
Reply
GP27 ready, or a timeout becomes a fault.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82C00D83-DA1D-A3BA-9F41-AB1BFF19265B}"/>
              </a:ext>
            </a:extLst>
          </p:cNvPr>
          <p:cNvCxnSpPr>
            <a:cxnSpLocks/>
          </p:cNvCxnSpPr>
          <p:nvPr/>
        </p:nvCxnSpPr>
        <p:spPr>
          <a:xfrm>
            <a:off x="357051" y="2386149"/>
            <a:ext cx="452846" cy="32989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A4CB984-03F8-DC43-CBA9-D7D9981F5BA8}"/>
              </a:ext>
            </a:extLst>
          </p:cNvPr>
          <p:cNvCxnSpPr/>
          <p:nvPr/>
        </p:nvCxnSpPr>
        <p:spPr>
          <a:xfrm flipV="1">
            <a:off x="357051" y="1997881"/>
            <a:ext cx="452846" cy="28811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78E6F8B-7E4E-9905-DA72-52FD1415D468}"/>
              </a:ext>
            </a:extLst>
          </p:cNvPr>
          <p:cNvSpPr txBox="1"/>
          <p:nvPr/>
        </p:nvSpPr>
        <p:spPr>
          <a:xfrm>
            <a:off x="55365" y="21361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A01363E-8F17-5D4F-05FE-55AA75D99D05}"/>
              </a:ext>
            </a:extLst>
          </p:cNvPr>
          <p:cNvCxnSpPr>
            <a:cxnSpLocks/>
          </p:cNvCxnSpPr>
          <p:nvPr/>
        </p:nvCxnSpPr>
        <p:spPr>
          <a:xfrm>
            <a:off x="357051" y="3979750"/>
            <a:ext cx="452846" cy="32989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1AD7180-2AED-A5B0-8A50-BD2CB5C41EA4}"/>
              </a:ext>
            </a:extLst>
          </p:cNvPr>
          <p:cNvCxnSpPr/>
          <p:nvPr/>
        </p:nvCxnSpPr>
        <p:spPr>
          <a:xfrm flipV="1">
            <a:off x="357051" y="3591482"/>
            <a:ext cx="452846" cy="28811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76FB233-DD93-AD76-A0B1-F6D5CD1C4028}"/>
              </a:ext>
            </a:extLst>
          </p:cNvPr>
          <p:cNvSpPr txBox="1"/>
          <p:nvPr/>
        </p:nvSpPr>
        <p:spPr>
          <a:xfrm>
            <a:off x="55365" y="37297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6876D88-5043-BB88-1FDC-CCDFCB01FD11}"/>
              </a:ext>
            </a:extLst>
          </p:cNvPr>
          <p:cNvCxnSpPr>
            <a:cxnSpLocks/>
          </p:cNvCxnSpPr>
          <p:nvPr/>
        </p:nvCxnSpPr>
        <p:spPr>
          <a:xfrm>
            <a:off x="357051" y="5660959"/>
            <a:ext cx="452846" cy="32989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9E4DE31-FBE5-C0C6-66DD-63BF873C58F0}"/>
              </a:ext>
            </a:extLst>
          </p:cNvPr>
          <p:cNvCxnSpPr/>
          <p:nvPr/>
        </p:nvCxnSpPr>
        <p:spPr>
          <a:xfrm flipV="1">
            <a:off x="357051" y="5272691"/>
            <a:ext cx="452846" cy="28811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8F8292E-4538-F51E-E48B-A57A07896BE7}"/>
              </a:ext>
            </a:extLst>
          </p:cNvPr>
          <p:cNvSpPr txBox="1"/>
          <p:nvPr/>
        </p:nvSpPr>
        <p:spPr>
          <a:xfrm>
            <a:off x="55365" y="541100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43666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100 Detail 3">
    <p:bg>
      <p:bgPr>
        <a:solidFill>
          <a:srgbClr val="141A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-1" y="-1"/>
            <a:ext cx="9753600" cy="6858000"/>
          </a:xfrm>
          <a:prstGeom prst="rect">
            <a:avLst/>
          </a:prstGeom>
        </p:spPr>
      </p:pic>
      <p:sp>
        <p:nvSpPr>
          <p:cNvPr id="6" name="P100 Step 3 Highlight">
            <a:extLst>
              <a:ext uri="{FF2B5EF4-FFF2-40B4-BE49-F238E27FC236}">
                <a16:creationId xmlns:a16="http://schemas.microsoft.com/office/drawing/2014/main" id="{91B94AE9-E461-66F7-FCC7-FA8CF8572F03}"/>
              </a:ext>
            </a:extLst>
          </p:cNvPr>
          <p:cNvSpPr/>
          <p:nvPr/>
        </p:nvSpPr>
        <p:spPr>
          <a:xfrm>
            <a:off x="964194" y="3238500"/>
            <a:ext cx="4617267" cy="631855"/>
          </a:xfrm>
          <a:prstGeom prst="rect">
            <a:avLst/>
          </a:prstGeom>
          <a:solidFill>
            <a:schemeClr val="accent1">
              <a:alpha val="0"/>
            </a:schemeClr>
          </a:solidFill>
          <a:ln w="31750">
            <a:solidFill>
              <a:srgbClr val="DCA8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66"/>
          </a:p>
        </p:txBody>
      </p:sp>
      <p:sp>
        <p:nvSpPr>
          <p:cNvPr id="13" name="P100 Step 1 Hit Area">
            <a:hlinkClick r:id="rId4" action="ppaction://hlinksldjump"/>
            <a:hlinkHover r:id="rId4" action="ppaction://hlinksldjump"/>
            <a:extLst>
              <a:ext uri="{FF2B5EF4-FFF2-40B4-BE49-F238E27FC236}">
                <a16:creationId xmlns:a16="http://schemas.microsoft.com/office/drawing/2014/main" id="{41A311AC-FE52-4066-CD5F-63034FE44609}"/>
              </a:ext>
            </a:extLst>
          </p:cNvPr>
          <p:cNvSpPr/>
          <p:nvPr/>
        </p:nvSpPr>
        <p:spPr>
          <a:xfrm>
            <a:off x="964194" y="1616044"/>
            <a:ext cx="4617267" cy="570368"/>
          </a:xfrm>
          <a:prstGeom prst="rect">
            <a:avLst/>
          </a:prstGeom>
          <a:solidFill>
            <a:schemeClr val="accent1">
              <a:alpha val="0"/>
            </a:scheme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66"/>
          </a:p>
        </p:txBody>
      </p:sp>
      <p:sp>
        <p:nvSpPr>
          <p:cNvPr id="14" name="P100 Step 2 Hit Area">
            <a:hlinkClick r:id="rId5" action="ppaction://hlinksldjump"/>
            <a:hlinkHover r:id="rId5" action="ppaction://hlinksldjump"/>
            <a:extLst>
              <a:ext uri="{FF2B5EF4-FFF2-40B4-BE49-F238E27FC236}">
                <a16:creationId xmlns:a16="http://schemas.microsoft.com/office/drawing/2014/main" id="{229D10D3-8782-98D3-CA79-9733E21A01F0}"/>
              </a:ext>
            </a:extLst>
          </p:cNvPr>
          <p:cNvSpPr/>
          <p:nvPr/>
        </p:nvSpPr>
        <p:spPr>
          <a:xfrm>
            <a:off x="964194" y="2458016"/>
            <a:ext cx="4617267" cy="570368"/>
          </a:xfrm>
          <a:prstGeom prst="rect">
            <a:avLst/>
          </a:prstGeom>
          <a:solidFill>
            <a:schemeClr val="accent1">
              <a:alpha val="0"/>
            </a:scheme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66"/>
          </a:p>
        </p:txBody>
      </p:sp>
      <p:sp>
        <p:nvSpPr>
          <p:cNvPr id="15" name="P100 Step 3 Hit Area">
            <a:hlinkClick r:id="rId6" action="ppaction://hlinksldjump"/>
            <a:hlinkHover r:id="rId6" action="ppaction://hlinksldjump"/>
            <a:extLst>
              <a:ext uri="{FF2B5EF4-FFF2-40B4-BE49-F238E27FC236}">
                <a16:creationId xmlns:a16="http://schemas.microsoft.com/office/drawing/2014/main" id="{57602AAE-6504-FE90-5086-CDC50FBFD167}"/>
              </a:ext>
            </a:extLst>
          </p:cNvPr>
          <p:cNvSpPr/>
          <p:nvPr/>
        </p:nvSpPr>
        <p:spPr>
          <a:xfrm>
            <a:off x="964194" y="3299988"/>
            <a:ext cx="4617267" cy="570368"/>
          </a:xfrm>
          <a:prstGeom prst="rect">
            <a:avLst/>
          </a:prstGeom>
          <a:solidFill>
            <a:schemeClr val="accent1">
              <a:alpha val="0"/>
            </a:scheme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66"/>
          </a:p>
        </p:txBody>
      </p:sp>
      <p:sp>
        <p:nvSpPr>
          <p:cNvPr id="17" name="P100 Step 4 Hit Area">
            <a:hlinkClick r:id="rId7" action="ppaction://hlinksldjump"/>
            <a:hlinkHover r:id="rId7" action="ppaction://hlinksldjump"/>
            <a:extLst>
              <a:ext uri="{FF2B5EF4-FFF2-40B4-BE49-F238E27FC236}">
                <a16:creationId xmlns:a16="http://schemas.microsoft.com/office/drawing/2014/main" id="{5739D453-CCF2-8895-2811-B3827B632E99}"/>
              </a:ext>
            </a:extLst>
          </p:cNvPr>
          <p:cNvSpPr/>
          <p:nvPr/>
        </p:nvSpPr>
        <p:spPr>
          <a:xfrm>
            <a:off x="964194" y="4141960"/>
            <a:ext cx="4617267" cy="570368"/>
          </a:xfrm>
          <a:prstGeom prst="rect">
            <a:avLst/>
          </a:prstGeom>
          <a:solidFill>
            <a:schemeClr val="accent1">
              <a:alpha val="0"/>
            </a:scheme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66"/>
          </a:p>
        </p:txBody>
      </p:sp>
      <p:sp>
        <p:nvSpPr>
          <p:cNvPr id="18" name="P100 Step 5 Hit Area">
            <a:hlinkClick r:id="rId8" action="ppaction://hlinksldjump"/>
            <a:hlinkHover r:id="rId8" action="ppaction://hlinksldjump"/>
            <a:extLst>
              <a:ext uri="{FF2B5EF4-FFF2-40B4-BE49-F238E27FC236}">
                <a16:creationId xmlns:a16="http://schemas.microsoft.com/office/drawing/2014/main" id="{4F2F32F3-9AB2-7C13-1A3D-8F2AB8384548}"/>
              </a:ext>
            </a:extLst>
          </p:cNvPr>
          <p:cNvSpPr/>
          <p:nvPr/>
        </p:nvSpPr>
        <p:spPr>
          <a:xfrm>
            <a:off x="964194" y="4983933"/>
            <a:ext cx="4617267" cy="570368"/>
          </a:xfrm>
          <a:prstGeom prst="rect">
            <a:avLst/>
          </a:prstGeom>
          <a:solidFill>
            <a:schemeClr val="accent1">
              <a:alpha val="0"/>
            </a:scheme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66"/>
          </a:p>
        </p:txBody>
      </p:sp>
      <p:sp>
        <p:nvSpPr>
          <p:cNvPr id="19" name="P100 Step 6 Hit Area">
            <a:hlinkClick r:id="rId9" action="ppaction://hlinksldjump"/>
            <a:hlinkHover r:id="rId9" action="ppaction://hlinksldjump"/>
            <a:extLst>
              <a:ext uri="{FF2B5EF4-FFF2-40B4-BE49-F238E27FC236}">
                <a16:creationId xmlns:a16="http://schemas.microsoft.com/office/drawing/2014/main" id="{3BD89E2F-BDDE-3193-2D38-2F39E5CB6867}"/>
              </a:ext>
            </a:extLst>
          </p:cNvPr>
          <p:cNvSpPr/>
          <p:nvPr/>
        </p:nvSpPr>
        <p:spPr>
          <a:xfrm>
            <a:off x="964194" y="5825905"/>
            <a:ext cx="4617267" cy="570368"/>
          </a:xfrm>
          <a:prstGeom prst="rect">
            <a:avLst/>
          </a:prstGeom>
          <a:solidFill>
            <a:schemeClr val="accent1">
              <a:alpha val="0"/>
            </a:scheme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66"/>
          </a:p>
        </p:txBody>
      </p:sp>
      <p:sp>
        <p:nvSpPr>
          <p:cNvPr id="20" name="Matching P100 Map Detail Background">
            <a:extLst>
              <a:ext uri="{FF2B5EF4-FFF2-40B4-BE49-F238E27FC236}">
                <a16:creationId xmlns:a16="http://schemas.microsoft.com/office/drawing/2014/main" id="{F716E644-4D7F-57F9-C447-5F26B4D7EA2B}"/>
              </a:ext>
            </a:extLst>
          </p:cNvPr>
          <p:cNvSpPr/>
          <p:nvPr/>
        </p:nvSpPr>
        <p:spPr>
          <a:xfrm>
            <a:off x="5703683" y="1670364"/>
            <a:ext cx="3078178" cy="2245259"/>
          </a:xfrm>
          <a:prstGeom prst="rect">
            <a:avLst/>
          </a:prstGeom>
          <a:solidFill>
            <a:srgbClr val="2B251F"/>
          </a:solidFill>
          <a:ln w="8890">
            <a:solidFill>
              <a:srgbClr val="6E60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66"/>
          </a:p>
        </p:txBody>
      </p:sp>
      <p:sp>
        <p:nvSpPr>
          <p:cNvPr id="21" name="Matching P100 Map Detail Title">
            <a:extLst>
              <a:ext uri="{FF2B5EF4-FFF2-40B4-BE49-F238E27FC236}">
                <a16:creationId xmlns:a16="http://schemas.microsoft.com/office/drawing/2014/main" id="{44103440-044D-FE0D-28C4-DF8B7A91468B}"/>
              </a:ext>
            </a:extLst>
          </p:cNvPr>
          <p:cNvSpPr txBox="1"/>
          <p:nvPr/>
        </p:nvSpPr>
        <p:spPr>
          <a:xfrm>
            <a:off x="5866645" y="1833327"/>
            <a:ext cx="2752254" cy="164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69" b="1">
                <a:solidFill>
                  <a:srgbClr val="FFCC66"/>
                </a:solidFill>
                <a:latin typeface="Aptos" panose="020B0004020202020204" pitchFamily="34" charset="0"/>
              </a:rPr>
              <a:t>3. Machine home</a:t>
            </a:r>
          </a:p>
        </p:txBody>
      </p:sp>
      <p:sp>
        <p:nvSpPr>
          <p:cNvPr id="22" name="Matching P100 Map Detail Body">
            <a:extLst>
              <a:ext uri="{FF2B5EF4-FFF2-40B4-BE49-F238E27FC236}">
                <a16:creationId xmlns:a16="http://schemas.microsoft.com/office/drawing/2014/main" id="{3B504EB3-11C8-5707-6204-5B06E0033E18}"/>
              </a:ext>
            </a:extLst>
          </p:cNvPr>
          <p:cNvSpPr txBox="1"/>
          <p:nvPr/>
        </p:nvSpPr>
        <p:spPr>
          <a:xfrm>
            <a:off x="5866645" y="2123038"/>
            <a:ext cx="2752254" cy="98293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12">
                <a:solidFill>
                  <a:srgbClr val="F7F4F0"/>
                </a:solidFill>
                <a:latin typeface="Aptos" panose="020B0004020202020204" pitchFamily="34" charset="0"/>
              </a:rPr>
              <a:t>Command
RP23CNC runs .
Result
Physical X/Y switches establish gantry coordinates.
Toolhead stays at LIFT_HOME.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4EA07165-00BF-A104-93DF-67EFB253BD0B}"/>
              </a:ext>
            </a:extLst>
          </p:cNvPr>
          <p:cNvCxnSpPr>
            <a:cxnSpLocks/>
          </p:cNvCxnSpPr>
          <p:nvPr/>
        </p:nvCxnSpPr>
        <p:spPr>
          <a:xfrm>
            <a:off x="357051" y="2386149"/>
            <a:ext cx="452846" cy="32989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DD21CD7-5FEB-36CE-32EF-74683A372A15}"/>
              </a:ext>
            </a:extLst>
          </p:cNvPr>
          <p:cNvCxnSpPr/>
          <p:nvPr/>
        </p:nvCxnSpPr>
        <p:spPr>
          <a:xfrm flipV="1">
            <a:off x="357051" y="1997881"/>
            <a:ext cx="452846" cy="28811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30EB072-21D9-C34A-8F01-65F72D40E1C9}"/>
              </a:ext>
            </a:extLst>
          </p:cNvPr>
          <p:cNvSpPr txBox="1"/>
          <p:nvPr/>
        </p:nvSpPr>
        <p:spPr>
          <a:xfrm>
            <a:off x="55365" y="21361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A619823-5BE3-E59C-DF97-57BE1BFF3BAD}"/>
              </a:ext>
            </a:extLst>
          </p:cNvPr>
          <p:cNvCxnSpPr>
            <a:cxnSpLocks/>
          </p:cNvCxnSpPr>
          <p:nvPr/>
        </p:nvCxnSpPr>
        <p:spPr>
          <a:xfrm>
            <a:off x="357051" y="3979750"/>
            <a:ext cx="452846" cy="32989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0F7F360-204E-8E9F-1499-23DB78899DB2}"/>
              </a:ext>
            </a:extLst>
          </p:cNvPr>
          <p:cNvCxnSpPr/>
          <p:nvPr/>
        </p:nvCxnSpPr>
        <p:spPr>
          <a:xfrm flipV="1">
            <a:off x="357051" y="3591482"/>
            <a:ext cx="452846" cy="28811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821EB6B-2A32-5B2F-BCB4-5C9D45304D7C}"/>
              </a:ext>
            </a:extLst>
          </p:cNvPr>
          <p:cNvSpPr txBox="1"/>
          <p:nvPr/>
        </p:nvSpPr>
        <p:spPr>
          <a:xfrm>
            <a:off x="55365" y="37297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65FF3F6-7996-4A78-3BA6-EF0784C4714A}"/>
              </a:ext>
            </a:extLst>
          </p:cNvPr>
          <p:cNvCxnSpPr>
            <a:cxnSpLocks/>
          </p:cNvCxnSpPr>
          <p:nvPr/>
        </p:nvCxnSpPr>
        <p:spPr>
          <a:xfrm>
            <a:off x="357051" y="5660959"/>
            <a:ext cx="452846" cy="32989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F40209D-350B-E1DD-CC23-1AA20552578C}"/>
              </a:ext>
            </a:extLst>
          </p:cNvPr>
          <p:cNvCxnSpPr/>
          <p:nvPr/>
        </p:nvCxnSpPr>
        <p:spPr>
          <a:xfrm flipV="1">
            <a:off x="357051" y="5272691"/>
            <a:ext cx="452846" cy="28811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E5A00D3-7EA6-B128-6554-D6CBF4B40969}"/>
              </a:ext>
            </a:extLst>
          </p:cNvPr>
          <p:cNvSpPr txBox="1"/>
          <p:nvPr/>
        </p:nvSpPr>
        <p:spPr>
          <a:xfrm>
            <a:off x="55365" y="541100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48743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100 Detail 4">
    <p:bg>
      <p:bgPr>
        <a:solidFill>
          <a:srgbClr val="141A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-1" y="-1"/>
            <a:ext cx="9753600" cy="6858000"/>
          </a:xfrm>
          <a:prstGeom prst="rect">
            <a:avLst/>
          </a:prstGeom>
        </p:spPr>
      </p:pic>
      <p:sp>
        <p:nvSpPr>
          <p:cNvPr id="6" name="P100 Step 4 Highlight">
            <a:extLst>
              <a:ext uri="{FF2B5EF4-FFF2-40B4-BE49-F238E27FC236}">
                <a16:creationId xmlns:a16="http://schemas.microsoft.com/office/drawing/2014/main" id="{117C52A5-B189-12A4-D958-BC9BBC3C3E95}"/>
              </a:ext>
            </a:extLst>
          </p:cNvPr>
          <p:cNvSpPr/>
          <p:nvPr/>
        </p:nvSpPr>
        <p:spPr>
          <a:xfrm>
            <a:off x="964194" y="4038600"/>
            <a:ext cx="4617267" cy="619125"/>
          </a:xfrm>
          <a:prstGeom prst="rect">
            <a:avLst/>
          </a:prstGeom>
          <a:solidFill>
            <a:schemeClr val="accent1">
              <a:alpha val="0"/>
            </a:schemeClr>
          </a:solidFill>
          <a:ln w="31750">
            <a:solidFill>
              <a:srgbClr val="7DC4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66"/>
          </a:p>
        </p:txBody>
      </p:sp>
      <p:sp>
        <p:nvSpPr>
          <p:cNvPr id="13" name="P100 Step 1 Hit Area">
            <a:hlinkClick r:id="rId4" action="ppaction://hlinksldjump"/>
            <a:hlinkHover r:id="rId4" action="ppaction://hlinksldjump"/>
            <a:extLst>
              <a:ext uri="{FF2B5EF4-FFF2-40B4-BE49-F238E27FC236}">
                <a16:creationId xmlns:a16="http://schemas.microsoft.com/office/drawing/2014/main" id="{6239FFE8-1983-751C-FF74-4DAD5061664C}"/>
              </a:ext>
            </a:extLst>
          </p:cNvPr>
          <p:cNvSpPr/>
          <p:nvPr/>
        </p:nvSpPr>
        <p:spPr>
          <a:xfrm>
            <a:off x="964194" y="1616044"/>
            <a:ext cx="4617267" cy="570368"/>
          </a:xfrm>
          <a:prstGeom prst="rect">
            <a:avLst/>
          </a:prstGeom>
          <a:solidFill>
            <a:schemeClr val="accent1">
              <a:alpha val="0"/>
            </a:scheme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66"/>
          </a:p>
        </p:txBody>
      </p:sp>
      <p:sp>
        <p:nvSpPr>
          <p:cNvPr id="14" name="P100 Step 2 Hit Area">
            <a:hlinkClick r:id="rId5" action="ppaction://hlinksldjump"/>
            <a:hlinkHover r:id="rId5" action="ppaction://hlinksldjump"/>
            <a:extLst>
              <a:ext uri="{FF2B5EF4-FFF2-40B4-BE49-F238E27FC236}">
                <a16:creationId xmlns:a16="http://schemas.microsoft.com/office/drawing/2014/main" id="{F6539B36-8038-6018-9D89-C18FCE14828A}"/>
              </a:ext>
            </a:extLst>
          </p:cNvPr>
          <p:cNvSpPr/>
          <p:nvPr/>
        </p:nvSpPr>
        <p:spPr>
          <a:xfrm>
            <a:off x="964194" y="2458016"/>
            <a:ext cx="4617267" cy="570368"/>
          </a:xfrm>
          <a:prstGeom prst="rect">
            <a:avLst/>
          </a:prstGeom>
          <a:solidFill>
            <a:schemeClr val="accent1">
              <a:alpha val="0"/>
            </a:scheme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66"/>
          </a:p>
        </p:txBody>
      </p:sp>
      <p:sp>
        <p:nvSpPr>
          <p:cNvPr id="15" name="P100 Step 3 Hit Area">
            <a:hlinkClick r:id="rId6" action="ppaction://hlinksldjump"/>
            <a:hlinkHover r:id="rId6" action="ppaction://hlinksldjump"/>
            <a:extLst>
              <a:ext uri="{FF2B5EF4-FFF2-40B4-BE49-F238E27FC236}">
                <a16:creationId xmlns:a16="http://schemas.microsoft.com/office/drawing/2014/main" id="{10A44E18-05A7-8D3D-14D9-DBAA4BDD58D3}"/>
              </a:ext>
            </a:extLst>
          </p:cNvPr>
          <p:cNvSpPr/>
          <p:nvPr/>
        </p:nvSpPr>
        <p:spPr>
          <a:xfrm>
            <a:off x="964194" y="3299988"/>
            <a:ext cx="4617267" cy="570368"/>
          </a:xfrm>
          <a:prstGeom prst="rect">
            <a:avLst/>
          </a:prstGeom>
          <a:solidFill>
            <a:schemeClr val="accent1">
              <a:alpha val="0"/>
            </a:scheme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66"/>
          </a:p>
        </p:txBody>
      </p:sp>
      <p:sp>
        <p:nvSpPr>
          <p:cNvPr id="17" name="P100 Step 4 Hit Area">
            <a:hlinkClick r:id="rId7" action="ppaction://hlinksldjump"/>
            <a:hlinkHover r:id="rId7" action="ppaction://hlinksldjump"/>
            <a:extLst>
              <a:ext uri="{FF2B5EF4-FFF2-40B4-BE49-F238E27FC236}">
                <a16:creationId xmlns:a16="http://schemas.microsoft.com/office/drawing/2014/main" id="{66EFFB9C-DAB1-BB22-6C35-9BFE282472EC}"/>
              </a:ext>
            </a:extLst>
          </p:cNvPr>
          <p:cNvSpPr/>
          <p:nvPr/>
        </p:nvSpPr>
        <p:spPr>
          <a:xfrm>
            <a:off x="964194" y="4141960"/>
            <a:ext cx="4617267" cy="570368"/>
          </a:xfrm>
          <a:prstGeom prst="rect">
            <a:avLst/>
          </a:prstGeom>
          <a:solidFill>
            <a:schemeClr val="accent1">
              <a:alpha val="0"/>
            </a:scheme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66"/>
          </a:p>
        </p:txBody>
      </p:sp>
      <p:sp>
        <p:nvSpPr>
          <p:cNvPr id="18" name="P100 Step 5 Hit Area">
            <a:hlinkClick r:id="rId8" action="ppaction://hlinksldjump"/>
            <a:hlinkHover r:id="rId8" action="ppaction://hlinksldjump"/>
            <a:extLst>
              <a:ext uri="{FF2B5EF4-FFF2-40B4-BE49-F238E27FC236}">
                <a16:creationId xmlns:a16="http://schemas.microsoft.com/office/drawing/2014/main" id="{9F7A191D-127E-3976-D652-2AA8B41DBBD9}"/>
              </a:ext>
            </a:extLst>
          </p:cNvPr>
          <p:cNvSpPr/>
          <p:nvPr/>
        </p:nvSpPr>
        <p:spPr>
          <a:xfrm>
            <a:off x="964194" y="4983933"/>
            <a:ext cx="4617267" cy="570368"/>
          </a:xfrm>
          <a:prstGeom prst="rect">
            <a:avLst/>
          </a:prstGeom>
          <a:solidFill>
            <a:schemeClr val="accent1">
              <a:alpha val="0"/>
            </a:scheme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66"/>
          </a:p>
        </p:txBody>
      </p:sp>
      <p:sp>
        <p:nvSpPr>
          <p:cNvPr id="19" name="P100 Step 6 Hit Area">
            <a:hlinkClick r:id="rId9" action="ppaction://hlinksldjump"/>
            <a:hlinkHover r:id="rId9" action="ppaction://hlinksldjump"/>
            <a:extLst>
              <a:ext uri="{FF2B5EF4-FFF2-40B4-BE49-F238E27FC236}">
                <a16:creationId xmlns:a16="http://schemas.microsoft.com/office/drawing/2014/main" id="{56C96F40-7BFA-4421-A10E-8F3E1257BA61}"/>
              </a:ext>
            </a:extLst>
          </p:cNvPr>
          <p:cNvSpPr/>
          <p:nvPr/>
        </p:nvSpPr>
        <p:spPr>
          <a:xfrm>
            <a:off x="964194" y="5825905"/>
            <a:ext cx="4617267" cy="570368"/>
          </a:xfrm>
          <a:prstGeom prst="rect">
            <a:avLst/>
          </a:prstGeom>
          <a:solidFill>
            <a:schemeClr val="accent1">
              <a:alpha val="0"/>
            </a:scheme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66"/>
          </a:p>
        </p:txBody>
      </p:sp>
      <p:sp>
        <p:nvSpPr>
          <p:cNvPr id="20" name="Matching P100 Map Detail Background">
            <a:extLst>
              <a:ext uri="{FF2B5EF4-FFF2-40B4-BE49-F238E27FC236}">
                <a16:creationId xmlns:a16="http://schemas.microsoft.com/office/drawing/2014/main" id="{5F1B77DF-9D79-05EF-5F40-16D2A8667562}"/>
              </a:ext>
            </a:extLst>
          </p:cNvPr>
          <p:cNvSpPr/>
          <p:nvPr/>
        </p:nvSpPr>
        <p:spPr>
          <a:xfrm>
            <a:off x="5703683" y="1670364"/>
            <a:ext cx="3078178" cy="2245259"/>
          </a:xfrm>
          <a:prstGeom prst="rect">
            <a:avLst/>
          </a:prstGeom>
          <a:solidFill>
            <a:srgbClr val="2B251F"/>
          </a:solidFill>
          <a:ln w="8890">
            <a:solidFill>
              <a:srgbClr val="6E60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66"/>
          </a:p>
        </p:txBody>
      </p:sp>
      <p:sp>
        <p:nvSpPr>
          <p:cNvPr id="21" name="Matching P100 Map Detail Title">
            <a:extLst>
              <a:ext uri="{FF2B5EF4-FFF2-40B4-BE49-F238E27FC236}">
                <a16:creationId xmlns:a16="http://schemas.microsoft.com/office/drawing/2014/main" id="{55434FDA-96C4-A8CC-98E6-504B3F8E5A5A}"/>
              </a:ext>
            </a:extLst>
          </p:cNvPr>
          <p:cNvSpPr txBox="1"/>
          <p:nvPr/>
        </p:nvSpPr>
        <p:spPr>
          <a:xfrm>
            <a:off x="5866645" y="1833327"/>
            <a:ext cx="2752254" cy="164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69" b="1">
                <a:solidFill>
                  <a:srgbClr val="FFCC66"/>
                </a:solidFill>
                <a:latin typeface="Aptos" panose="020B0004020202020204" pitchFamily="34" charset="0"/>
              </a:rPr>
              <a:t>4. Magnetic registration</a:t>
            </a:r>
          </a:p>
        </p:txBody>
      </p:sp>
      <p:sp>
        <p:nvSpPr>
          <p:cNvPr id="22" name="Matching P100 Map Detail Body">
            <a:extLst>
              <a:ext uri="{FF2B5EF4-FFF2-40B4-BE49-F238E27FC236}">
                <a16:creationId xmlns:a16="http://schemas.microsoft.com/office/drawing/2014/main" id="{156CB25D-77C0-DA0C-4FEB-87867AF2EDB9}"/>
              </a:ext>
            </a:extLst>
          </p:cNvPr>
          <p:cNvSpPr txBox="1"/>
          <p:nvPr/>
        </p:nvSpPr>
        <p:spPr>
          <a:xfrm>
            <a:off x="5866645" y="2123038"/>
            <a:ext cx="2752254" cy="84251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12">
                <a:solidFill>
                  <a:srgbClr val="F7F4F0"/>
                </a:solidFill>
                <a:latin typeface="Aptos" panose="020B0004020202020204" pitchFamily="34" charset="0"/>
              </a:rPr>
              <a:t>Request / reply
GP28 requests the scan; GP27 reports TMAG.
Result
Center magnet sets G54 X/Y zero.
Outer magnet sets A zero.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561047B3-EC78-A4E7-3D8B-863808F78367}"/>
              </a:ext>
            </a:extLst>
          </p:cNvPr>
          <p:cNvCxnSpPr>
            <a:cxnSpLocks/>
          </p:cNvCxnSpPr>
          <p:nvPr/>
        </p:nvCxnSpPr>
        <p:spPr>
          <a:xfrm>
            <a:off x="357051" y="2386149"/>
            <a:ext cx="452846" cy="32989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EE068E9-7BB2-35E3-BEA4-9B6A7F7E7DFF}"/>
              </a:ext>
            </a:extLst>
          </p:cNvPr>
          <p:cNvCxnSpPr/>
          <p:nvPr/>
        </p:nvCxnSpPr>
        <p:spPr>
          <a:xfrm flipV="1">
            <a:off x="357051" y="1997881"/>
            <a:ext cx="452846" cy="28811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9C192F8-F8FA-D681-68A6-F321B15B19E3}"/>
              </a:ext>
            </a:extLst>
          </p:cNvPr>
          <p:cNvSpPr txBox="1"/>
          <p:nvPr/>
        </p:nvSpPr>
        <p:spPr>
          <a:xfrm>
            <a:off x="55365" y="21361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BD3D482-0DCF-C6D6-2F67-C853DDFC7F35}"/>
              </a:ext>
            </a:extLst>
          </p:cNvPr>
          <p:cNvCxnSpPr>
            <a:cxnSpLocks/>
          </p:cNvCxnSpPr>
          <p:nvPr/>
        </p:nvCxnSpPr>
        <p:spPr>
          <a:xfrm>
            <a:off x="357051" y="3979750"/>
            <a:ext cx="452846" cy="32989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243C0A0-AE11-A612-0CDD-EA844B26212C}"/>
              </a:ext>
            </a:extLst>
          </p:cNvPr>
          <p:cNvCxnSpPr/>
          <p:nvPr/>
        </p:nvCxnSpPr>
        <p:spPr>
          <a:xfrm flipV="1">
            <a:off x="357051" y="3591482"/>
            <a:ext cx="452846" cy="28811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B924128-5302-FCE2-9E14-2688B1DCEC91}"/>
              </a:ext>
            </a:extLst>
          </p:cNvPr>
          <p:cNvSpPr txBox="1"/>
          <p:nvPr/>
        </p:nvSpPr>
        <p:spPr>
          <a:xfrm>
            <a:off x="55365" y="37297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613A718-F71B-6BAF-DDFB-D7F4B1579900}"/>
              </a:ext>
            </a:extLst>
          </p:cNvPr>
          <p:cNvCxnSpPr>
            <a:cxnSpLocks/>
          </p:cNvCxnSpPr>
          <p:nvPr/>
        </p:nvCxnSpPr>
        <p:spPr>
          <a:xfrm>
            <a:off x="357051" y="5660959"/>
            <a:ext cx="452846" cy="32989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BF1F71E-127A-64C7-3040-4A180D49E507}"/>
              </a:ext>
            </a:extLst>
          </p:cNvPr>
          <p:cNvCxnSpPr/>
          <p:nvPr/>
        </p:nvCxnSpPr>
        <p:spPr>
          <a:xfrm flipV="1">
            <a:off x="357051" y="5272691"/>
            <a:ext cx="452846" cy="28811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1BF082C-D166-3D67-9240-ED10060FB6BE}"/>
              </a:ext>
            </a:extLst>
          </p:cNvPr>
          <p:cNvSpPr txBox="1"/>
          <p:nvPr/>
        </p:nvSpPr>
        <p:spPr>
          <a:xfrm>
            <a:off x="55365" y="541100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651036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100 Detail 5">
    <p:bg>
      <p:bgPr>
        <a:solidFill>
          <a:srgbClr val="141A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-1" y="-1"/>
            <a:ext cx="9753600" cy="6858000"/>
          </a:xfrm>
          <a:prstGeom prst="rect">
            <a:avLst/>
          </a:prstGeom>
        </p:spPr>
      </p:pic>
      <p:sp>
        <p:nvSpPr>
          <p:cNvPr id="6" name="P100 Step 5 Highlight">
            <a:extLst>
              <a:ext uri="{FF2B5EF4-FFF2-40B4-BE49-F238E27FC236}">
                <a16:creationId xmlns:a16="http://schemas.microsoft.com/office/drawing/2014/main" id="{7F16F13E-E844-C3B3-8EDF-4735DE048CB9}"/>
              </a:ext>
            </a:extLst>
          </p:cNvPr>
          <p:cNvSpPr/>
          <p:nvPr/>
        </p:nvSpPr>
        <p:spPr>
          <a:xfrm>
            <a:off x="964194" y="4832350"/>
            <a:ext cx="4617267" cy="625475"/>
          </a:xfrm>
          <a:prstGeom prst="rect">
            <a:avLst/>
          </a:prstGeom>
          <a:solidFill>
            <a:schemeClr val="accent1">
              <a:alpha val="0"/>
            </a:schemeClr>
          </a:solidFill>
          <a:ln w="31750">
            <a:solidFill>
              <a:srgbClr val="32C2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66"/>
          </a:p>
        </p:txBody>
      </p:sp>
      <p:sp>
        <p:nvSpPr>
          <p:cNvPr id="13" name="P100 Step 1 Hit Area">
            <a:hlinkClick r:id="rId4" action="ppaction://hlinksldjump"/>
            <a:hlinkHover r:id="rId4" action="ppaction://hlinksldjump"/>
            <a:extLst>
              <a:ext uri="{FF2B5EF4-FFF2-40B4-BE49-F238E27FC236}">
                <a16:creationId xmlns:a16="http://schemas.microsoft.com/office/drawing/2014/main" id="{7895C82C-98CE-0F30-1E8A-3268F7E34339}"/>
              </a:ext>
            </a:extLst>
          </p:cNvPr>
          <p:cNvSpPr/>
          <p:nvPr/>
        </p:nvSpPr>
        <p:spPr>
          <a:xfrm>
            <a:off x="964194" y="1616044"/>
            <a:ext cx="4617267" cy="570368"/>
          </a:xfrm>
          <a:prstGeom prst="rect">
            <a:avLst/>
          </a:prstGeom>
          <a:solidFill>
            <a:schemeClr val="accent1">
              <a:alpha val="0"/>
            </a:scheme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66"/>
          </a:p>
        </p:txBody>
      </p:sp>
      <p:sp>
        <p:nvSpPr>
          <p:cNvPr id="14" name="P100 Step 2 Hit Area">
            <a:hlinkClick r:id="rId5" action="ppaction://hlinksldjump"/>
            <a:hlinkHover r:id="rId5" action="ppaction://hlinksldjump"/>
            <a:extLst>
              <a:ext uri="{FF2B5EF4-FFF2-40B4-BE49-F238E27FC236}">
                <a16:creationId xmlns:a16="http://schemas.microsoft.com/office/drawing/2014/main" id="{AE98F383-9A0E-B31D-98D9-113904BCB0AB}"/>
              </a:ext>
            </a:extLst>
          </p:cNvPr>
          <p:cNvSpPr/>
          <p:nvPr/>
        </p:nvSpPr>
        <p:spPr>
          <a:xfrm>
            <a:off x="964194" y="2458016"/>
            <a:ext cx="4617267" cy="570368"/>
          </a:xfrm>
          <a:prstGeom prst="rect">
            <a:avLst/>
          </a:prstGeom>
          <a:solidFill>
            <a:schemeClr val="accent1">
              <a:alpha val="0"/>
            </a:scheme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66"/>
          </a:p>
        </p:txBody>
      </p:sp>
      <p:sp>
        <p:nvSpPr>
          <p:cNvPr id="15" name="P100 Step 3 Hit Area">
            <a:hlinkClick r:id="rId6" action="ppaction://hlinksldjump"/>
            <a:hlinkHover r:id="rId6" action="ppaction://hlinksldjump"/>
            <a:extLst>
              <a:ext uri="{FF2B5EF4-FFF2-40B4-BE49-F238E27FC236}">
                <a16:creationId xmlns:a16="http://schemas.microsoft.com/office/drawing/2014/main" id="{7BD3113B-C884-0799-BFAE-1057EBD0EA3F}"/>
              </a:ext>
            </a:extLst>
          </p:cNvPr>
          <p:cNvSpPr/>
          <p:nvPr/>
        </p:nvSpPr>
        <p:spPr>
          <a:xfrm>
            <a:off x="964194" y="3299988"/>
            <a:ext cx="4617267" cy="570368"/>
          </a:xfrm>
          <a:prstGeom prst="rect">
            <a:avLst/>
          </a:prstGeom>
          <a:solidFill>
            <a:schemeClr val="accent1">
              <a:alpha val="0"/>
            </a:scheme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66"/>
          </a:p>
        </p:txBody>
      </p:sp>
      <p:sp>
        <p:nvSpPr>
          <p:cNvPr id="17" name="P100 Step 4 Hit Area">
            <a:hlinkClick r:id="rId7" action="ppaction://hlinksldjump"/>
            <a:hlinkHover r:id="rId7" action="ppaction://hlinksldjump"/>
            <a:extLst>
              <a:ext uri="{FF2B5EF4-FFF2-40B4-BE49-F238E27FC236}">
                <a16:creationId xmlns:a16="http://schemas.microsoft.com/office/drawing/2014/main" id="{E907B343-AF07-68E8-F5B5-30101A27197D}"/>
              </a:ext>
            </a:extLst>
          </p:cNvPr>
          <p:cNvSpPr/>
          <p:nvPr/>
        </p:nvSpPr>
        <p:spPr>
          <a:xfrm>
            <a:off x="964194" y="4141960"/>
            <a:ext cx="4617267" cy="570368"/>
          </a:xfrm>
          <a:prstGeom prst="rect">
            <a:avLst/>
          </a:prstGeom>
          <a:solidFill>
            <a:schemeClr val="accent1">
              <a:alpha val="0"/>
            </a:scheme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66"/>
          </a:p>
        </p:txBody>
      </p:sp>
      <p:sp>
        <p:nvSpPr>
          <p:cNvPr id="18" name="P100 Step 5 Hit Area">
            <a:hlinkClick r:id="rId8" action="ppaction://hlinksldjump"/>
            <a:hlinkHover r:id="rId8" action="ppaction://hlinksldjump"/>
            <a:extLst>
              <a:ext uri="{FF2B5EF4-FFF2-40B4-BE49-F238E27FC236}">
                <a16:creationId xmlns:a16="http://schemas.microsoft.com/office/drawing/2014/main" id="{579E2DB0-94AB-7406-C44A-389EBAC7562D}"/>
              </a:ext>
            </a:extLst>
          </p:cNvPr>
          <p:cNvSpPr/>
          <p:nvPr/>
        </p:nvSpPr>
        <p:spPr>
          <a:xfrm>
            <a:off x="964194" y="4983933"/>
            <a:ext cx="4617267" cy="570368"/>
          </a:xfrm>
          <a:prstGeom prst="rect">
            <a:avLst/>
          </a:prstGeom>
          <a:solidFill>
            <a:schemeClr val="accent1">
              <a:alpha val="0"/>
            </a:scheme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66"/>
          </a:p>
        </p:txBody>
      </p:sp>
      <p:sp>
        <p:nvSpPr>
          <p:cNvPr id="19" name="P100 Step 6 Hit Area">
            <a:hlinkClick r:id="rId9" action="ppaction://hlinksldjump"/>
            <a:hlinkHover r:id="rId9" action="ppaction://hlinksldjump"/>
            <a:extLst>
              <a:ext uri="{FF2B5EF4-FFF2-40B4-BE49-F238E27FC236}">
                <a16:creationId xmlns:a16="http://schemas.microsoft.com/office/drawing/2014/main" id="{156C76C4-903A-B573-DA1E-E62B0DA2A219}"/>
              </a:ext>
            </a:extLst>
          </p:cNvPr>
          <p:cNvSpPr/>
          <p:nvPr/>
        </p:nvSpPr>
        <p:spPr>
          <a:xfrm>
            <a:off x="964194" y="5825905"/>
            <a:ext cx="4617267" cy="570368"/>
          </a:xfrm>
          <a:prstGeom prst="rect">
            <a:avLst/>
          </a:prstGeom>
          <a:solidFill>
            <a:schemeClr val="accent1">
              <a:alpha val="0"/>
            </a:scheme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66"/>
          </a:p>
        </p:txBody>
      </p:sp>
      <p:sp>
        <p:nvSpPr>
          <p:cNvPr id="20" name="Matching P100 Map Detail Background">
            <a:extLst>
              <a:ext uri="{FF2B5EF4-FFF2-40B4-BE49-F238E27FC236}">
                <a16:creationId xmlns:a16="http://schemas.microsoft.com/office/drawing/2014/main" id="{89FE897F-04BC-FA43-95EF-FD5AA8ADA80D}"/>
              </a:ext>
            </a:extLst>
          </p:cNvPr>
          <p:cNvSpPr/>
          <p:nvPr/>
        </p:nvSpPr>
        <p:spPr>
          <a:xfrm>
            <a:off x="5703683" y="1670364"/>
            <a:ext cx="3078178" cy="2245259"/>
          </a:xfrm>
          <a:prstGeom prst="rect">
            <a:avLst/>
          </a:prstGeom>
          <a:solidFill>
            <a:srgbClr val="2B251F"/>
          </a:solidFill>
          <a:ln w="8890">
            <a:solidFill>
              <a:srgbClr val="6E60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66"/>
          </a:p>
        </p:txBody>
      </p:sp>
      <p:sp>
        <p:nvSpPr>
          <p:cNvPr id="21" name="Matching P100 Map Detail Title">
            <a:extLst>
              <a:ext uri="{FF2B5EF4-FFF2-40B4-BE49-F238E27FC236}">
                <a16:creationId xmlns:a16="http://schemas.microsoft.com/office/drawing/2014/main" id="{52103310-A1E3-00CA-D853-899611B9D158}"/>
              </a:ext>
            </a:extLst>
          </p:cNvPr>
          <p:cNvSpPr txBox="1"/>
          <p:nvPr/>
        </p:nvSpPr>
        <p:spPr>
          <a:xfrm>
            <a:off x="5866645" y="1833327"/>
            <a:ext cx="2752254" cy="164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69" b="1">
                <a:solidFill>
                  <a:srgbClr val="FFCC66"/>
                </a:solidFill>
                <a:latin typeface="Aptos" panose="020B0004020202020204" pitchFamily="34" charset="0"/>
              </a:rPr>
              <a:t>5. Per-run touch check</a:t>
            </a:r>
          </a:p>
        </p:txBody>
      </p:sp>
      <p:sp>
        <p:nvSpPr>
          <p:cNvPr id="22" name="Matching P100 Map Detail Body">
            <a:extLst>
              <a:ext uri="{FF2B5EF4-FFF2-40B4-BE49-F238E27FC236}">
                <a16:creationId xmlns:a16="http://schemas.microsoft.com/office/drawing/2014/main" id="{CA9E2D01-1BF7-F06A-80BF-59E1B3A5FA6D}"/>
              </a:ext>
            </a:extLst>
          </p:cNvPr>
          <p:cNvSpPr txBox="1"/>
          <p:nvPr/>
        </p:nvSpPr>
        <p:spPr>
          <a:xfrm>
            <a:off x="5866645" y="2123038"/>
            <a:ext cx="2752254" cy="11233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12">
                <a:solidFill>
                  <a:srgbClr val="F7F4F0"/>
                </a:solidFill>
                <a:latin typeface="Aptos" panose="020B0004020202020204" pitchFamily="34" charset="0"/>
              </a:rPr>
              <a:t>M3
Seek down to the load-cell contact threshold.
M5
Release, then make a bounded clearance pulse.
Abort
Fail to touch, release, or clear.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1EBB5AAE-5BDC-2AA2-97E5-38E7F7F97585}"/>
              </a:ext>
            </a:extLst>
          </p:cNvPr>
          <p:cNvCxnSpPr>
            <a:cxnSpLocks/>
          </p:cNvCxnSpPr>
          <p:nvPr/>
        </p:nvCxnSpPr>
        <p:spPr>
          <a:xfrm>
            <a:off x="357051" y="2386149"/>
            <a:ext cx="452846" cy="32989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F938FB7-354C-70CD-E746-4F325631C033}"/>
              </a:ext>
            </a:extLst>
          </p:cNvPr>
          <p:cNvCxnSpPr/>
          <p:nvPr/>
        </p:nvCxnSpPr>
        <p:spPr>
          <a:xfrm flipV="1">
            <a:off x="357051" y="1997881"/>
            <a:ext cx="452846" cy="28811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B80FB4E-CA0D-72A4-1BC1-AECF6105BC26}"/>
              </a:ext>
            </a:extLst>
          </p:cNvPr>
          <p:cNvSpPr txBox="1"/>
          <p:nvPr/>
        </p:nvSpPr>
        <p:spPr>
          <a:xfrm>
            <a:off x="55365" y="21361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65462AD-4975-CE69-BB64-EADA1B67001D}"/>
              </a:ext>
            </a:extLst>
          </p:cNvPr>
          <p:cNvCxnSpPr>
            <a:cxnSpLocks/>
          </p:cNvCxnSpPr>
          <p:nvPr/>
        </p:nvCxnSpPr>
        <p:spPr>
          <a:xfrm>
            <a:off x="357051" y="3979750"/>
            <a:ext cx="452846" cy="32989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EB5FAC4-561A-6C57-8939-7B231CF5CE4B}"/>
              </a:ext>
            </a:extLst>
          </p:cNvPr>
          <p:cNvCxnSpPr/>
          <p:nvPr/>
        </p:nvCxnSpPr>
        <p:spPr>
          <a:xfrm flipV="1">
            <a:off x="357051" y="3591482"/>
            <a:ext cx="452846" cy="28811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32846A3-EC31-5EC3-9167-852D1C94737B}"/>
              </a:ext>
            </a:extLst>
          </p:cNvPr>
          <p:cNvSpPr txBox="1"/>
          <p:nvPr/>
        </p:nvSpPr>
        <p:spPr>
          <a:xfrm>
            <a:off x="55365" y="37297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D6FD82F-C196-0F9C-CFFB-9393233B60D1}"/>
              </a:ext>
            </a:extLst>
          </p:cNvPr>
          <p:cNvCxnSpPr>
            <a:cxnSpLocks/>
          </p:cNvCxnSpPr>
          <p:nvPr/>
        </p:nvCxnSpPr>
        <p:spPr>
          <a:xfrm>
            <a:off x="357051" y="5660959"/>
            <a:ext cx="452846" cy="32989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1AA7AAE-292E-BA01-5C72-67A4C1392B02}"/>
              </a:ext>
            </a:extLst>
          </p:cNvPr>
          <p:cNvCxnSpPr/>
          <p:nvPr/>
        </p:nvCxnSpPr>
        <p:spPr>
          <a:xfrm flipV="1">
            <a:off x="357051" y="5272691"/>
            <a:ext cx="452846" cy="28811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C922703-AEF1-64E2-0D49-362DA309851E}"/>
              </a:ext>
            </a:extLst>
          </p:cNvPr>
          <p:cNvSpPr txBox="1"/>
          <p:nvPr/>
        </p:nvSpPr>
        <p:spPr>
          <a:xfrm>
            <a:off x="55365" y="541100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118222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100 Detail 6">
    <p:bg>
      <p:bgPr>
        <a:solidFill>
          <a:srgbClr val="141A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-1" y="-1"/>
            <a:ext cx="9753600" cy="6858000"/>
          </a:xfrm>
          <a:prstGeom prst="rect">
            <a:avLst/>
          </a:prstGeom>
        </p:spPr>
      </p:pic>
      <p:sp>
        <p:nvSpPr>
          <p:cNvPr id="6" name="P100 Step 6 Highlight">
            <a:extLst>
              <a:ext uri="{FF2B5EF4-FFF2-40B4-BE49-F238E27FC236}">
                <a16:creationId xmlns:a16="http://schemas.microsoft.com/office/drawing/2014/main" id="{99FA98AA-EAE2-6753-4166-5A747CE2F194}"/>
              </a:ext>
            </a:extLst>
          </p:cNvPr>
          <p:cNvSpPr/>
          <p:nvPr/>
        </p:nvSpPr>
        <p:spPr>
          <a:xfrm>
            <a:off x="964194" y="5638800"/>
            <a:ext cx="4617267" cy="619125"/>
          </a:xfrm>
          <a:prstGeom prst="rect">
            <a:avLst/>
          </a:prstGeom>
          <a:solidFill>
            <a:schemeClr val="accent1">
              <a:alpha val="0"/>
            </a:schemeClr>
          </a:solidFill>
          <a:ln w="31750">
            <a:solidFill>
              <a:srgbClr val="D6A7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66"/>
          </a:p>
        </p:txBody>
      </p:sp>
      <p:sp>
        <p:nvSpPr>
          <p:cNvPr id="13" name="P100 Step 1 Hit Area">
            <a:hlinkClick r:id="rId4" action="ppaction://hlinksldjump"/>
            <a:hlinkHover r:id="rId4" action="ppaction://hlinksldjump"/>
            <a:extLst>
              <a:ext uri="{FF2B5EF4-FFF2-40B4-BE49-F238E27FC236}">
                <a16:creationId xmlns:a16="http://schemas.microsoft.com/office/drawing/2014/main" id="{224FCB21-0124-F8FC-9344-93F9F0588C5E}"/>
              </a:ext>
            </a:extLst>
          </p:cNvPr>
          <p:cNvSpPr/>
          <p:nvPr/>
        </p:nvSpPr>
        <p:spPr>
          <a:xfrm>
            <a:off x="964194" y="1616044"/>
            <a:ext cx="4617267" cy="570368"/>
          </a:xfrm>
          <a:prstGeom prst="rect">
            <a:avLst/>
          </a:prstGeom>
          <a:solidFill>
            <a:schemeClr val="accent1">
              <a:alpha val="0"/>
            </a:scheme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66"/>
          </a:p>
        </p:txBody>
      </p:sp>
      <p:sp>
        <p:nvSpPr>
          <p:cNvPr id="14" name="P100 Step 2 Hit Area">
            <a:hlinkClick r:id="rId5" action="ppaction://hlinksldjump"/>
            <a:hlinkHover r:id="rId5" action="ppaction://hlinksldjump"/>
            <a:extLst>
              <a:ext uri="{FF2B5EF4-FFF2-40B4-BE49-F238E27FC236}">
                <a16:creationId xmlns:a16="http://schemas.microsoft.com/office/drawing/2014/main" id="{45F1FD27-CDC5-22DA-9824-F1CE42A9046F}"/>
              </a:ext>
            </a:extLst>
          </p:cNvPr>
          <p:cNvSpPr/>
          <p:nvPr/>
        </p:nvSpPr>
        <p:spPr>
          <a:xfrm>
            <a:off x="964194" y="2458016"/>
            <a:ext cx="4617267" cy="570368"/>
          </a:xfrm>
          <a:prstGeom prst="rect">
            <a:avLst/>
          </a:prstGeom>
          <a:solidFill>
            <a:schemeClr val="accent1">
              <a:alpha val="0"/>
            </a:scheme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66"/>
          </a:p>
        </p:txBody>
      </p:sp>
      <p:sp>
        <p:nvSpPr>
          <p:cNvPr id="15" name="P100 Step 3 Hit Area">
            <a:hlinkClick r:id="rId6" action="ppaction://hlinksldjump"/>
            <a:hlinkHover r:id="rId6" action="ppaction://hlinksldjump"/>
            <a:extLst>
              <a:ext uri="{FF2B5EF4-FFF2-40B4-BE49-F238E27FC236}">
                <a16:creationId xmlns:a16="http://schemas.microsoft.com/office/drawing/2014/main" id="{0ED9ADA3-0220-89D3-F7E2-49C7E37AAC6C}"/>
              </a:ext>
            </a:extLst>
          </p:cNvPr>
          <p:cNvSpPr/>
          <p:nvPr/>
        </p:nvSpPr>
        <p:spPr>
          <a:xfrm>
            <a:off x="964194" y="3299988"/>
            <a:ext cx="4617267" cy="570368"/>
          </a:xfrm>
          <a:prstGeom prst="rect">
            <a:avLst/>
          </a:prstGeom>
          <a:solidFill>
            <a:schemeClr val="accent1">
              <a:alpha val="0"/>
            </a:scheme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66"/>
          </a:p>
        </p:txBody>
      </p:sp>
      <p:sp>
        <p:nvSpPr>
          <p:cNvPr id="17" name="P100 Step 4 Hit Area">
            <a:hlinkClick r:id="rId7" action="ppaction://hlinksldjump"/>
            <a:hlinkHover r:id="rId7" action="ppaction://hlinksldjump"/>
            <a:extLst>
              <a:ext uri="{FF2B5EF4-FFF2-40B4-BE49-F238E27FC236}">
                <a16:creationId xmlns:a16="http://schemas.microsoft.com/office/drawing/2014/main" id="{D574CED1-A598-453D-7F70-1E9A5024B0A9}"/>
              </a:ext>
            </a:extLst>
          </p:cNvPr>
          <p:cNvSpPr/>
          <p:nvPr/>
        </p:nvSpPr>
        <p:spPr>
          <a:xfrm>
            <a:off x="964194" y="4141960"/>
            <a:ext cx="4617267" cy="570368"/>
          </a:xfrm>
          <a:prstGeom prst="rect">
            <a:avLst/>
          </a:prstGeom>
          <a:solidFill>
            <a:schemeClr val="accent1">
              <a:alpha val="0"/>
            </a:scheme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66"/>
          </a:p>
        </p:txBody>
      </p:sp>
      <p:sp>
        <p:nvSpPr>
          <p:cNvPr id="18" name="P100 Step 5 Hit Area">
            <a:hlinkClick r:id="rId8" action="ppaction://hlinksldjump"/>
            <a:hlinkHover r:id="rId8" action="ppaction://hlinksldjump"/>
            <a:extLst>
              <a:ext uri="{FF2B5EF4-FFF2-40B4-BE49-F238E27FC236}">
                <a16:creationId xmlns:a16="http://schemas.microsoft.com/office/drawing/2014/main" id="{FE677328-B0F2-83E1-2AE2-ABA52B94DD58}"/>
              </a:ext>
            </a:extLst>
          </p:cNvPr>
          <p:cNvSpPr/>
          <p:nvPr/>
        </p:nvSpPr>
        <p:spPr>
          <a:xfrm>
            <a:off x="964194" y="4983933"/>
            <a:ext cx="4617267" cy="570368"/>
          </a:xfrm>
          <a:prstGeom prst="rect">
            <a:avLst/>
          </a:prstGeom>
          <a:solidFill>
            <a:schemeClr val="accent1">
              <a:alpha val="0"/>
            </a:scheme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66"/>
          </a:p>
        </p:txBody>
      </p:sp>
      <p:sp>
        <p:nvSpPr>
          <p:cNvPr id="19" name="P100 Step 6 Hit Area">
            <a:hlinkClick r:id="rId9" action="ppaction://hlinksldjump"/>
            <a:hlinkHover r:id="rId9" action="ppaction://hlinksldjump"/>
            <a:extLst>
              <a:ext uri="{FF2B5EF4-FFF2-40B4-BE49-F238E27FC236}">
                <a16:creationId xmlns:a16="http://schemas.microsoft.com/office/drawing/2014/main" id="{4C4DA52B-092C-FEF2-6030-2E6DA7F83E7A}"/>
              </a:ext>
            </a:extLst>
          </p:cNvPr>
          <p:cNvSpPr/>
          <p:nvPr/>
        </p:nvSpPr>
        <p:spPr>
          <a:xfrm>
            <a:off x="964194" y="5825905"/>
            <a:ext cx="4617267" cy="570368"/>
          </a:xfrm>
          <a:prstGeom prst="rect">
            <a:avLst/>
          </a:prstGeom>
          <a:solidFill>
            <a:schemeClr val="accent1">
              <a:alpha val="0"/>
            </a:scheme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66"/>
          </a:p>
        </p:txBody>
      </p:sp>
      <p:sp>
        <p:nvSpPr>
          <p:cNvPr id="20" name="Matching P100 Map Detail Background">
            <a:extLst>
              <a:ext uri="{FF2B5EF4-FFF2-40B4-BE49-F238E27FC236}">
                <a16:creationId xmlns:a16="http://schemas.microsoft.com/office/drawing/2014/main" id="{96A6C59A-8EFD-8E9A-98CA-807B25989EF4}"/>
              </a:ext>
            </a:extLst>
          </p:cNvPr>
          <p:cNvSpPr/>
          <p:nvPr/>
        </p:nvSpPr>
        <p:spPr>
          <a:xfrm>
            <a:off x="5703683" y="1670364"/>
            <a:ext cx="3078178" cy="2245259"/>
          </a:xfrm>
          <a:prstGeom prst="rect">
            <a:avLst/>
          </a:prstGeom>
          <a:solidFill>
            <a:srgbClr val="2B251F"/>
          </a:solidFill>
          <a:ln w="8890">
            <a:solidFill>
              <a:srgbClr val="6E60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66"/>
          </a:p>
        </p:txBody>
      </p:sp>
      <p:sp>
        <p:nvSpPr>
          <p:cNvPr id="21" name="Matching P100 Map Detail Title">
            <a:extLst>
              <a:ext uri="{FF2B5EF4-FFF2-40B4-BE49-F238E27FC236}">
                <a16:creationId xmlns:a16="http://schemas.microsoft.com/office/drawing/2014/main" id="{79B1B7FA-F6B4-12FF-24AF-F35EF601677B}"/>
              </a:ext>
            </a:extLst>
          </p:cNvPr>
          <p:cNvSpPr txBox="1"/>
          <p:nvPr/>
        </p:nvSpPr>
        <p:spPr>
          <a:xfrm>
            <a:off x="5866645" y="1833327"/>
            <a:ext cx="2752254" cy="164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69" b="1">
                <a:solidFill>
                  <a:srgbClr val="FFCC66"/>
                </a:solidFill>
                <a:latin typeface="Aptos" panose="020B0004020202020204" pitchFamily="34" charset="0"/>
              </a:rPr>
              <a:t>6. Ready state</a:t>
            </a:r>
          </a:p>
        </p:txBody>
      </p:sp>
      <p:sp>
        <p:nvSpPr>
          <p:cNvPr id="22" name="Matching P100 Map Detail Body">
            <a:extLst>
              <a:ext uri="{FF2B5EF4-FFF2-40B4-BE49-F238E27FC236}">
                <a16:creationId xmlns:a16="http://schemas.microsoft.com/office/drawing/2014/main" id="{FC948654-D1C0-901A-42AD-B9C9346D71C8}"/>
              </a:ext>
            </a:extLst>
          </p:cNvPr>
          <p:cNvSpPr txBox="1"/>
          <p:nvPr/>
        </p:nvSpPr>
        <p:spPr>
          <a:xfrm>
            <a:off x="5866645" y="2123038"/>
            <a:ext cx="2752254" cy="98293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912">
                <a:solidFill>
                  <a:srgbClr val="F7F4F0"/>
                </a:solidFill>
                <a:latin typeface="Aptos" panose="020B0004020202020204" pitchFamily="34" charset="0"/>
              </a:rPr>
              <a:t>Ready
G54 registered; pen clear of paper.
Drawing
M3 writes. M5 releases and travels.
GP2 is not used for each lift.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6542D194-D697-32F0-4E1E-4240C50E0124}"/>
              </a:ext>
            </a:extLst>
          </p:cNvPr>
          <p:cNvCxnSpPr>
            <a:cxnSpLocks/>
          </p:cNvCxnSpPr>
          <p:nvPr/>
        </p:nvCxnSpPr>
        <p:spPr>
          <a:xfrm>
            <a:off x="357051" y="2386149"/>
            <a:ext cx="452846" cy="32989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C567A2A-2704-8E07-2D95-4327FCD2806C}"/>
              </a:ext>
            </a:extLst>
          </p:cNvPr>
          <p:cNvCxnSpPr/>
          <p:nvPr/>
        </p:nvCxnSpPr>
        <p:spPr>
          <a:xfrm flipV="1">
            <a:off x="357051" y="1997881"/>
            <a:ext cx="452846" cy="28811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5EA784C-D6BF-D4E3-CADC-3DD48C5905C7}"/>
              </a:ext>
            </a:extLst>
          </p:cNvPr>
          <p:cNvSpPr txBox="1"/>
          <p:nvPr/>
        </p:nvSpPr>
        <p:spPr>
          <a:xfrm>
            <a:off x="55365" y="21361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9DBAFF7-FFB6-63D6-7FD2-BBBA76E11D1F}"/>
              </a:ext>
            </a:extLst>
          </p:cNvPr>
          <p:cNvCxnSpPr>
            <a:cxnSpLocks/>
          </p:cNvCxnSpPr>
          <p:nvPr/>
        </p:nvCxnSpPr>
        <p:spPr>
          <a:xfrm>
            <a:off x="357051" y="3979750"/>
            <a:ext cx="452846" cy="32989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A00A045-C351-DD3D-D101-6A5AC92467DB}"/>
              </a:ext>
            </a:extLst>
          </p:cNvPr>
          <p:cNvCxnSpPr/>
          <p:nvPr/>
        </p:nvCxnSpPr>
        <p:spPr>
          <a:xfrm flipV="1">
            <a:off x="357051" y="3591482"/>
            <a:ext cx="452846" cy="28811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512D059-DF69-25C1-FE83-C2B1E613366E}"/>
              </a:ext>
            </a:extLst>
          </p:cNvPr>
          <p:cNvSpPr txBox="1"/>
          <p:nvPr/>
        </p:nvSpPr>
        <p:spPr>
          <a:xfrm>
            <a:off x="55365" y="37297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BCF5475-69C6-437F-23A1-2BD6FA4AFFDC}"/>
              </a:ext>
            </a:extLst>
          </p:cNvPr>
          <p:cNvCxnSpPr>
            <a:cxnSpLocks/>
          </p:cNvCxnSpPr>
          <p:nvPr/>
        </p:nvCxnSpPr>
        <p:spPr>
          <a:xfrm>
            <a:off x="357051" y="5660959"/>
            <a:ext cx="452846" cy="32989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FE14961-6BCB-4DED-5CCF-6FF32D2FFBEC}"/>
              </a:ext>
            </a:extLst>
          </p:cNvPr>
          <p:cNvCxnSpPr/>
          <p:nvPr/>
        </p:nvCxnSpPr>
        <p:spPr>
          <a:xfrm flipV="1">
            <a:off x="357051" y="5272691"/>
            <a:ext cx="452846" cy="28811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15D1ABF-324F-4502-ADF2-430C744F7EBE}"/>
              </a:ext>
            </a:extLst>
          </p:cNvPr>
          <p:cNvSpPr txBox="1"/>
          <p:nvPr/>
        </p:nvSpPr>
        <p:spPr>
          <a:xfrm>
            <a:off x="55365" y="541100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0312879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181F8B7-18C1-4C19-8204-9B8D54568C82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HOW THE MACHINE PRINTS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D74CBB-2FDF-46A7-A047-48EF0BF396C3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5000" lnSpcReduction="10000"/>
          </a:bodyPr>
          <a:lstStyle/>
          <a:p>
            <a:pPr algn="l"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print cycle uses force feedback to find paper and maintain pressure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D879BC-F633-4DA1-A485-E2C29792AE97}"/>
              </a:ext>
            </a:extLst>
          </p:cNvPr>
          <p:cNvSpPr>
            <a:spLocks noGrp="1"/>
          </p:cNvSpPr>
          <p:nvPr/>
        </p:nvSpPr>
        <p:spPr>
          <a:xfrm>
            <a:off x="400050" y="634365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016B35-71BC-46CA-B04C-5134B4B561D3}"/>
              </a:ext>
            </a:extLst>
          </p:cNvPr>
          <p:cNvSpPr>
            <a:spLocks noGrp="1"/>
          </p:cNvSpPr>
          <p:nvPr/>
        </p:nvSpPr>
        <p:spPr>
          <a:xfrm>
            <a:off x="400050" y="6477000"/>
            <a:ext cx="619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THETA PEN PLOTTER  •  SUMMER PROGRESS UPDATE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BAEA44-20C9-488D-9B62-A4B1B1D3AC7C}"/>
              </a:ext>
            </a:extLst>
          </p:cNvPr>
          <p:cNvSpPr>
            <a:spLocks noGrp="1"/>
          </p:cNvSpPr>
          <p:nvPr/>
        </p:nvSpPr>
        <p:spPr>
          <a:xfrm>
            <a:off x="11287125" y="647700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9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7</a:t>
            </a:r>
            <a:endParaRPr sz="900" b="0">
              <a:solidFill>
                <a:srgbClr val="59616B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9447F00-4038-42A6-A78F-E7C8B169F076}"/>
              </a:ext>
            </a:extLst>
          </p:cNvPr>
          <p:cNvSpPr>
            <a:spLocks noGrp="1"/>
          </p:cNvSpPr>
          <p:nvPr/>
        </p:nvSpPr>
        <p:spPr>
          <a:xfrm>
            <a:off x="495300" y="1857375"/>
            <a:ext cx="4857750" cy="3143250"/>
          </a:xfrm>
          <a:prstGeom prst="roundRect">
            <a:avLst>
              <a:gd name="adj" fmla="val 2424"/>
            </a:avLst>
          </a:prstGeom>
          <a:solidFill>
            <a:srgbClr val="EAF5FB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0310CA-84F4-4DDC-B3A5-A5DE9FFEA2CA}"/>
              </a:ext>
            </a:extLst>
          </p:cNvPr>
          <p:cNvSpPr>
            <a:spLocks noGrp="1"/>
          </p:cNvSpPr>
          <p:nvPr/>
        </p:nvSpPr>
        <p:spPr>
          <a:xfrm>
            <a:off x="781050" y="2190750"/>
            <a:ext cx="4095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M3  •  engage and write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E13D9C-3903-40A3-A81C-9652B17D4275}"/>
              </a:ext>
            </a:extLst>
          </p:cNvPr>
          <p:cNvSpPr>
            <a:spLocks noGrp="1"/>
          </p:cNvSpPr>
          <p:nvPr/>
        </p:nvSpPr>
        <p:spPr>
          <a:xfrm>
            <a:off x="781050" y="2800350"/>
            <a:ext cx="3981450" cy="1676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 N20 lowers the carriage slowly.</a:t>
            </a:r>
          </a:p>
          <a:p>
            <a:endParaRPr sz="15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2. Load cell crosses the contact threshold.</a:t>
            </a:r>
          </a:p>
          <a:p>
            <a:endParaRPr sz="15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3. Controller holds the selected writing force while X/Y/A move.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F397D9B-9706-4D97-8C0C-8EBB14890C39}"/>
              </a:ext>
            </a:extLst>
          </p:cNvPr>
          <p:cNvSpPr>
            <a:spLocks noGrp="1"/>
          </p:cNvSpPr>
          <p:nvPr/>
        </p:nvSpPr>
        <p:spPr>
          <a:xfrm>
            <a:off x="6838950" y="1857375"/>
            <a:ext cx="4857750" cy="3143250"/>
          </a:xfrm>
          <a:prstGeom prst="roundRect">
            <a:avLst>
              <a:gd name="adj" fmla="val 2424"/>
            </a:avLst>
          </a:prstGeom>
          <a:solidFill>
            <a:srgbClr val="FFF4E7"/>
          </a:solidFill>
          <a:ln w="9525">
            <a:solidFill>
              <a:srgbClr val="BE7C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76D4D3-209D-465A-9A74-C8AD44A9846A}"/>
              </a:ext>
            </a:extLst>
          </p:cNvPr>
          <p:cNvSpPr>
            <a:spLocks noGrp="1"/>
          </p:cNvSpPr>
          <p:nvPr/>
        </p:nvSpPr>
        <p:spPr>
          <a:xfrm>
            <a:off x="7124700" y="2190750"/>
            <a:ext cx="4095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M5  •  release and travel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289CC5-71E7-4162-B9FF-95458502AAC3}"/>
              </a:ext>
            </a:extLst>
          </p:cNvPr>
          <p:cNvSpPr>
            <a:spLocks noGrp="1"/>
          </p:cNvSpPr>
          <p:nvPr/>
        </p:nvSpPr>
        <p:spPr>
          <a:xfrm>
            <a:off x="7124700" y="2800350"/>
            <a:ext cx="3981450" cy="1676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lnSpcReduction="10000"/>
          </a:bodyPr>
          <a:lstStyle/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 N20 retracts until the load cell says the pen released.</a:t>
            </a:r>
          </a:p>
          <a:p>
            <a:endParaRPr sz="15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2. A bounded clearance pulse creates an air gap.</a:t>
            </a:r>
          </a:p>
          <a:p>
            <a:endParaRPr sz="15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3. The machine travels to the next mark without moving to the distant home switch.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F1AB35-19EB-4325-9C47-4A797FA3118F}"/>
              </a:ext>
            </a:extLst>
          </p:cNvPr>
          <p:cNvSpPr>
            <a:spLocks noGrp="1"/>
          </p:cNvSpPr>
          <p:nvPr/>
        </p:nvSpPr>
        <p:spPr>
          <a:xfrm>
            <a:off x="1123950" y="5429250"/>
            <a:ext cx="990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spring provides compliance; the load cell determines pressing versus clear.</a:t>
            </a:r>
          </a:p>
        </p:txBody>
      </p:sp>
    </p:spTree>
    <p:extLst>
      <p:ext uri="{BB962C8B-B14F-4D97-AF65-F5344CB8AC3E}">
        <p14:creationId xmlns:p14="http://schemas.microsoft.com/office/powerpoint/2010/main" val="2151662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6F3120CE-A278-4DE4-AD80-D4DC1D123C15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NEXT STEPS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3A6AE53-AD58-4E52-B393-414681A316C6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Next: </a:t>
            </a:r>
            <a:r>
              <a:rPr lang="en-US" sz="270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toolhead-home step completion</a:t>
            </a:r>
            <a:endParaRPr sz="2700" b="1" dirty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9F2E39-8BF6-4B94-A2C5-D953FE5E8A25}"/>
              </a:ext>
            </a:extLst>
          </p:cNvPr>
          <p:cNvSpPr>
            <a:spLocks noGrp="1"/>
          </p:cNvSpPr>
          <p:nvPr/>
        </p:nvSpPr>
        <p:spPr>
          <a:xfrm>
            <a:off x="400050" y="6343650"/>
            <a:ext cx="11391900" cy="9525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966DD7-3920-4FA6-A491-D7945580FBAC}"/>
              </a:ext>
            </a:extLst>
          </p:cNvPr>
          <p:cNvSpPr>
            <a:spLocks noGrp="1"/>
          </p:cNvSpPr>
          <p:nvPr/>
        </p:nvSpPr>
        <p:spPr>
          <a:xfrm>
            <a:off x="400050" y="6477000"/>
            <a:ext cx="619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THETA PEN PLOTTER  •  SUMMER PROGRESS UPDATE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F9E131-E1CF-420A-9F71-A52E237094F7}"/>
              </a:ext>
            </a:extLst>
          </p:cNvPr>
          <p:cNvSpPr>
            <a:spLocks noGrp="1"/>
          </p:cNvSpPr>
          <p:nvPr/>
        </p:nvSpPr>
        <p:spPr>
          <a:xfrm>
            <a:off x="11287125" y="647700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9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8</a:t>
            </a:r>
            <a:endParaRPr sz="900" b="0">
              <a:solidFill>
                <a:srgbClr val="59616B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7A44B7-ECD2-4982-853D-CBA0F6874ED8}"/>
              </a:ext>
            </a:extLst>
          </p:cNvPr>
          <p:cNvSpPr>
            <a:spLocks noGrp="1"/>
          </p:cNvSpPr>
          <p:nvPr/>
        </p:nvSpPr>
        <p:spPr>
          <a:xfrm>
            <a:off x="962025" y="2038350"/>
            <a:ext cx="38100" cy="66675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8CD63C9-FB5D-4CF9-B636-255C9D995C34}"/>
              </a:ext>
            </a:extLst>
          </p:cNvPr>
          <p:cNvSpPr>
            <a:spLocks noGrp="1"/>
          </p:cNvSpPr>
          <p:nvPr/>
        </p:nvSpPr>
        <p:spPr>
          <a:xfrm>
            <a:off x="400050" y="1714500"/>
            <a:ext cx="990600" cy="590550"/>
          </a:xfrm>
          <a:prstGeom prst="roundRect">
            <a:avLst>
              <a:gd name="adj" fmla="val 12903"/>
            </a:avLst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2A3837-4B0C-4616-9BC9-FA376B966A92}"/>
              </a:ext>
            </a:extLst>
          </p:cNvPr>
          <p:cNvSpPr>
            <a:spLocks noGrp="1"/>
          </p:cNvSpPr>
          <p:nvPr/>
        </p:nvSpPr>
        <p:spPr>
          <a:xfrm>
            <a:off x="495300" y="1885950"/>
            <a:ext cx="800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E-07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609BC2-063A-48B2-AD29-A914A2B36501}"/>
              </a:ext>
            </a:extLst>
          </p:cNvPr>
          <p:cNvSpPr>
            <a:spLocks noGrp="1"/>
          </p:cNvSpPr>
          <p:nvPr/>
        </p:nvSpPr>
        <p:spPr>
          <a:xfrm>
            <a:off x="1752600" y="1752600"/>
            <a:ext cx="3219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Calibrate load cell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918645-EE17-49CF-8D5F-2C0EF7C54067}"/>
              </a:ext>
            </a:extLst>
          </p:cNvPr>
          <p:cNvSpPr>
            <a:spLocks noGrp="1"/>
          </p:cNvSpPr>
          <p:nvPr/>
        </p:nvSpPr>
        <p:spPr>
          <a:xfrm>
            <a:off x="1752600" y="2038350"/>
            <a:ext cx="790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dirty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Convert HX711 readings into </a:t>
            </a:r>
            <a:r>
              <a:rPr lang="en-US" sz="1200" b="0" dirty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reproducible</a:t>
            </a:r>
            <a:r>
              <a:rPr sz="1200" b="0" dirty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 force units.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7F70C5-0635-4E9C-8C8E-0B6DCED6C29E}"/>
              </a:ext>
            </a:extLst>
          </p:cNvPr>
          <p:cNvSpPr>
            <a:spLocks noGrp="1"/>
          </p:cNvSpPr>
          <p:nvPr/>
        </p:nvSpPr>
        <p:spPr>
          <a:xfrm>
            <a:off x="962025" y="2819400"/>
            <a:ext cx="38100" cy="66675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3B52F5A-584B-4620-B432-56CF4204CEDA}"/>
              </a:ext>
            </a:extLst>
          </p:cNvPr>
          <p:cNvSpPr>
            <a:spLocks noGrp="1"/>
          </p:cNvSpPr>
          <p:nvPr/>
        </p:nvSpPr>
        <p:spPr>
          <a:xfrm>
            <a:off x="400050" y="2495550"/>
            <a:ext cx="990600" cy="590550"/>
          </a:xfrm>
          <a:prstGeom prst="roundRect">
            <a:avLst>
              <a:gd name="adj" fmla="val 12903"/>
            </a:avLst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8BD5C5-55D1-4232-98F1-B8BE74E6A6EC}"/>
              </a:ext>
            </a:extLst>
          </p:cNvPr>
          <p:cNvSpPr>
            <a:spLocks noGrp="1"/>
          </p:cNvSpPr>
          <p:nvPr/>
        </p:nvSpPr>
        <p:spPr>
          <a:xfrm>
            <a:off x="495300" y="2667000"/>
            <a:ext cx="800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T-01G/H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DEB15B-1687-4046-936B-11D47DE10982}"/>
              </a:ext>
            </a:extLst>
          </p:cNvPr>
          <p:cNvSpPr>
            <a:spLocks noGrp="1"/>
          </p:cNvSpPr>
          <p:nvPr/>
        </p:nvSpPr>
        <p:spPr>
          <a:xfrm>
            <a:off x="1752600" y="2533650"/>
            <a:ext cx="3219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Verify lift and clear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84570F-8D3A-4CF1-A4AD-E7CBA58347BD}"/>
              </a:ext>
            </a:extLst>
          </p:cNvPr>
          <p:cNvSpPr>
            <a:spLocks noGrp="1"/>
          </p:cNvSpPr>
          <p:nvPr/>
        </p:nvSpPr>
        <p:spPr>
          <a:xfrm>
            <a:off x="1752600" y="2819400"/>
            <a:ext cx="790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dirty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Prove GP2 homing and repeatable M5 release/clearance.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2CB085-06EA-4906-8EA2-08F426296908}"/>
              </a:ext>
            </a:extLst>
          </p:cNvPr>
          <p:cNvSpPr>
            <a:spLocks noGrp="1"/>
          </p:cNvSpPr>
          <p:nvPr/>
        </p:nvSpPr>
        <p:spPr>
          <a:xfrm>
            <a:off x="962025" y="3600450"/>
            <a:ext cx="38100" cy="66675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4723233-8F73-4590-A710-01004AEFC83E}"/>
              </a:ext>
            </a:extLst>
          </p:cNvPr>
          <p:cNvSpPr>
            <a:spLocks noGrp="1"/>
          </p:cNvSpPr>
          <p:nvPr/>
        </p:nvSpPr>
        <p:spPr>
          <a:xfrm>
            <a:off x="400050" y="3276600"/>
            <a:ext cx="990600" cy="590550"/>
          </a:xfrm>
          <a:prstGeom prst="roundRect">
            <a:avLst>
              <a:gd name="adj" fmla="val 12903"/>
            </a:avLst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87C64A-6C3B-4BF0-9D56-8551C3949B16}"/>
              </a:ext>
            </a:extLst>
          </p:cNvPr>
          <p:cNvSpPr>
            <a:spLocks noGrp="1"/>
          </p:cNvSpPr>
          <p:nvPr/>
        </p:nvSpPr>
        <p:spPr>
          <a:xfrm>
            <a:off x="495300" y="3448050"/>
            <a:ext cx="800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T-01J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FB96B44-BF51-4D93-928C-72F06C8710B5}"/>
              </a:ext>
            </a:extLst>
          </p:cNvPr>
          <p:cNvSpPr>
            <a:spLocks noGrp="1"/>
          </p:cNvSpPr>
          <p:nvPr/>
        </p:nvSpPr>
        <p:spPr>
          <a:xfrm>
            <a:off x="1752600" y="3314700"/>
            <a:ext cx="3219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 writing tool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307825B-54AD-4503-AA9D-13F4FD50DE31}"/>
              </a:ext>
            </a:extLst>
          </p:cNvPr>
          <p:cNvSpPr>
            <a:spLocks noGrp="1"/>
          </p:cNvSpPr>
          <p:nvPr/>
        </p:nvSpPr>
        <p:spPr>
          <a:xfrm>
            <a:off x="1752600" y="3600450"/>
            <a:ext cx="790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dirty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Touch and clear before every run; </a:t>
            </a:r>
            <a:r>
              <a:rPr lang="en-US" sz="1200" b="0" dirty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pens or pencils.</a:t>
            </a:r>
            <a:endParaRPr sz="1200" b="0" dirty="0">
              <a:solidFill>
                <a:srgbClr val="59616B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987ED91-503A-47EB-9E54-A9F24EF8A8F2}"/>
              </a:ext>
            </a:extLst>
          </p:cNvPr>
          <p:cNvSpPr>
            <a:spLocks noGrp="1"/>
          </p:cNvSpPr>
          <p:nvPr/>
        </p:nvSpPr>
        <p:spPr>
          <a:xfrm>
            <a:off x="962025" y="4381500"/>
            <a:ext cx="38100" cy="666750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DA9D67F-49F5-45CC-9586-5D8B58C87CF0}"/>
              </a:ext>
            </a:extLst>
          </p:cNvPr>
          <p:cNvSpPr>
            <a:spLocks noGrp="1"/>
          </p:cNvSpPr>
          <p:nvPr/>
        </p:nvSpPr>
        <p:spPr>
          <a:xfrm>
            <a:off x="400050" y="4057650"/>
            <a:ext cx="990600" cy="590550"/>
          </a:xfrm>
          <a:prstGeom prst="roundRect">
            <a:avLst>
              <a:gd name="adj" fmla="val 12903"/>
            </a:avLst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2755A75-62DC-4F26-8921-5F7CE8AA4E07}"/>
              </a:ext>
            </a:extLst>
          </p:cNvPr>
          <p:cNvSpPr>
            <a:spLocks noGrp="1"/>
          </p:cNvSpPr>
          <p:nvPr/>
        </p:nvSpPr>
        <p:spPr>
          <a:xfrm>
            <a:off x="495300" y="4229100"/>
            <a:ext cx="800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2153" lnSpcReduction="20000"/>
          </a:bodyPr>
          <a:lstStyle/>
          <a:p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F-05 / integration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E79AD77-810E-4670-8A2E-046B9C017EEB}"/>
              </a:ext>
            </a:extLst>
          </p:cNvPr>
          <p:cNvSpPr>
            <a:spLocks noGrp="1"/>
          </p:cNvSpPr>
          <p:nvPr/>
        </p:nvSpPr>
        <p:spPr>
          <a:xfrm>
            <a:off x="1752600" y="4095750"/>
            <a:ext cx="3219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Connect M3/M5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B3A93B3-A53C-4150-A3BD-AA1B6FFC1839}"/>
              </a:ext>
            </a:extLst>
          </p:cNvPr>
          <p:cNvSpPr>
            <a:spLocks noGrp="1"/>
          </p:cNvSpPr>
          <p:nvPr/>
        </p:nvSpPr>
        <p:spPr>
          <a:xfrm>
            <a:off x="1752600" y="4381500"/>
            <a:ext cx="790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Verify the motion controller and toolhead work together.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0926D51-8FAA-465C-AD4A-BDFF0EEC4AD2}"/>
              </a:ext>
            </a:extLst>
          </p:cNvPr>
          <p:cNvSpPr>
            <a:spLocks noGrp="1"/>
          </p:cNvSpPr>
          <p:nvPr/>
        </p:nvSpPr>
        <p:spPr>
          <a:xfrm>
            <a:off x="400050" y="4838700"/>
            <a:ext cx="990600" cy="590550"/>
          </a:xfrm>
          <a:prstGeom prst="roundRect">
            <a:avLst>
              <a:gd name="adj" fmla="val 12903"/>
            </a:avLst>
          </a:prstGeom>
          <a:solidFill>
            <a:srgbClr val="EAF5FB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7F1D206-A7D4-4835-89BA-A526A1CA6003}"/>
              </a:ext>
            </a:extLst>
          </p:cNvPr>
          <p:cNvSpPr>
            <a:spLocks noGrp="1"/>
          </p:cNvSpPr>
          <p:nvPr/>
        </p:nvSpPr>
        <p:spPr>
          <a:xfrm>
            <a:off x="495300" y="5010150"/>
            <a:ext cx="800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5185" lnSpcReduction="20000"/>
          </a:bodyPr>
          <a:lstStyle/>
          <a:p>
            <a:pPr algn="ctr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Calibration drawing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B7EDDD2-AF9C-4D26-B2E4-9CF086B88824}"/>
              </a:ext>
            </a:extLst>
          </p:cNvPr>
          <p:cNvSpPr>
            <a:spLocks noGrp="1"/>
          </p:cNvSpPr>
          <p:nvPr/>
        </p:nvSpPr>
        <p:spPr>
          <a:xfrm>
            <a:off x="1752600" y="4876800"/>
            <a:ext cx="445312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575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Adjust system based on calibration results</a:t>
            </a:r>
            <a:endParaRPr sz="1575" b="1" dirty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1B2ACB4-5A14-494F-BAA1-E7B650B3CFBD}"/>
              </a:ext>
            </a:extLst>
          </p:cNvPr>
          <p:cNvSpPr>
            <a:spLocks noGrp="1"/>
          </p:cNvSpPr>
          <p:nvPr/>
        </p:nvSpPr>
        <p:spPr>
          <a:xfrm>
            <a:off x="1752600" y="5162550"/>
            <a:ext cx="790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16B"/>
                </a:solidFill>
                <a:latin typeface="Helvetica Neue"/>
                <a:ea typeface="Helvetica Neue"/>
                <a:cs typeface="Helvetica Neue"/>
              </a:rPr>
              <a:t>Measure line quality, force trace, and geometry.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915F8DA-30D9-453D-B4F0-B3ADCBB6FB56}"/>
              </a:ext>
            </a:extLst>
          </p:cNvPr>
          <p:cNvSpPr>
            <a:spLocks noGrp="1"/>
          </p:cNvSpPr>
          <p:nvPr/>
        </p:nvSpPr>
        <p:spPr>
          <a:xfrm>
            <a:off x="400050" y="5810250"/>
            <a:ext cx="1047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333"/>
          </a:bodyPr>
          <a:lstStyle/>
          <a:p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sz="1575" b="1" dirty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905808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1241</Words>
  <Application>Microsoft Office PowerPoint</Application>
  <DocSecurity>0</DocSecurity>
  <PresentationFormat>Widescreen</PresentationFormat>
  <Paragraphs>219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Helvetica Neue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Kevin Claypool</cp:lastModifiedBy>
  <cp:revision>10</cp:revision>
  <dcterms:created xsi:type="dcterms:W3CDTF">2026-09-02T20:10:32Z</dcterms:created>
  <dcterms:modified xsi:type="dcterms:W3CDTF">2026-09-03T17:16:14Z</dcterms:modified>
</cp:coreProperties>
</file>